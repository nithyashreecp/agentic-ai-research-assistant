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65" r:id="rId5"/>
    <p:sldId id="266" r:id="rId6"/>
    <p:sldId id="268" r:id="rId7"/>
    <p:sldId id="269" r:id="rId8"/>
    <p:sldId id="267" r:id="rId9"/>
    <p:sldId id="290" r:id="rId10"/>
    <p:sldId id="275" r:id="rId11"/>
    <p:sldId id="291" r:id="rId12"/>
    <p:sldId id="279" r:id="rId13"/>
    <p:sldId id="280" r:id="rId14"/>
    <p:sldId id="272" r:id="rId15"/>
  </p:sldIdLst>
  <p:sldSz cx="18288000" cy="10287000"/>
  <p:notesSz cx="18288000" cy="10287000"/>
  <p:defaultTextStyle>
    <a:defPPr>
      <a:defRPr kern="0"/>
    </a:defPPr>
  </p:defaultTextStyle>
  <p:extLs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8EB"/>
    <a:srgbClr val="FFF9EF"/>
    <a:srgbClr val="FCE8AE"/>
    <a:srgbClr val="FEE7D6"/>
    <a:srgbClr val="FEEBCA"/>
    <a:srgbClr val="EFDAB3"/>
    <a:srgbClr val="F7D797"/>
    <a:srgbClr val="F8C8B2"/>
    <a:srgbClr val="F8D3A2"/>
    <a:srgbClr val="EDC1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p:cViewPr>
        <p:scale>
          <a:sx n="60" d="100"/>
          <a:sy n="60" d="100"/>
        </p:scale>
        <p:origin x="-394" y="13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43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0358438" y="0"/>
            <a:ext cx="7924800" cy="514350"/>
          </a:xfrm>
          <a:prstGeom prst="rect">
            <a:avLst/>
          </a:prstGeom>
        </p:spPr>
        <p:txBody>
          <a:bodyPr vert="horz" lIns="91440" tIns="45720" rIns="91440" bIns="45720" rtlCol="0"/>
          <a:lstStyle>
            <a:lvl1pPr algn="r">
              <a:defRPr sz="1200"/>
            </a:lvl1pPr>
          </a:lstStyle>
          <a:p>
            <a:fld id="{C770EE7E-BF02-4E28-93E1-813A044BCB60}" type="datetimeFigureOut">
              <a:rPr lang="en-IN" smtClean="0"/>
              <a:t>31-12-2025</a:t>
            </a:fld>
            <a:endParaRPr lang="en-IN"/>
          </a:p>
        </p:txBody>
      </p:sp>
      <p:sp>
        <p:nvSpPr>
          <p:cNvPr id="4" name="Slide Image Placeholder 3"/>
          <p:cNvSpPr>
            <a:spLocks noGrp="1" noRot="1" noChangeAspect="1"/>
          </p:cNvSpPr>
          <p:nvPr>
            <p:ph type="sldImg" idx="2"/>
          </p:nvPr>
        </p:nvSpPr>
        <p:spPr>
          <a:xfrm>
            <a:off x="5715000" y="771525"/>
            <a:ext cx="6858000" cy="38576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828800" y="4886325"/>
            <a:ext cx="14630400" cy="46291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771063"/>
            <a:ext cx="7924800" cy="5143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0358438" y="9771063"/>
            <a:ext cx="7924800" cy="514350"/>
          </a:xfrm>
          <a:prstGeom prst="rect">
            <a:avLst/>
          </a:prstGeom>
        </p:spPr>
        <p:txBody>
          <a:bodyPr vert="horz" lIns="91440" tIns="45720" rIns="91440" bIns="45720" rtlCol="0" anchor="b"/>
          <a:lstStyle>
            <a:lvl1pPr algn="r">
              <a:defRPr sz="1200"/>
            </a:lvl1pPr>
          </a:lstStyle>
          <a:p>
            <a:fld id="{9099ADB6-E9ED-4F25-996B-DD7816E28E62}" type="slidenum">
              <a:rPr lang="en-IN" smtClean="0"/>
              <a:t>‹#›</a:t>
            </a:fld>
            <a:endParaRPr lang="en-IN"/>
          </a:p>
        </p:txBody>
      </p:sp>
    </p:spTree>
    <p:extLst>
      <p:ext uri="{BB962C8B-B14F-4D97-AF65-F5344CB8AC3E}">
        <p14:creationId xmlns:p14="http://schemas.microsoft.com/office/powerpoint/2010/main" val="905480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99ADB6-E9ED-4F25-996B-DD7816E28E62}" type="slidenum">
              <a:rPr lang="en-IN" smtClean="0"/>
              <a:t>4</a:t>
            </a:fld>
            <a:endParaRPr lang="en-IN"/>
          </a:p>
        </p:txBody>
      </p:sp>
    </p:spTree>
    <p:extLst>
      <p:ext uri="{BB962C8B-B14F-4D97-AF65-F5344CB8AC3E}">
        <p14:creationId xmlns:p14="http://schemas.microsoft.com/office/powerpoint/2010/main" val="2653796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099ADB6-E9ED-4F25-996B-DD7816E28E62}" type="slidenum">
              <a:rPr lang="en-IN" smtClean="0"/>
              <a:t>12</a:t>
            </a:fld>
            <a:endParaRPr lang="en-IN"/>
          </a:p>
        </p:txBody>
      </p:sp>
    </p:spTree>
    <p:extLst>
      <p:ext uri="{BB962C8B-B14F-4D97-AF65-F5344CB8AC3E}">
        <p14:creationId xmlns:p14="http://schemas.microsoft.com/office/powerpoint/2010/main" val="2177595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099ADB6-E9ED-4F25-996B-DD7816E28E62}" type="slidenum">
              <a:rPr lang="en-IN" smtClean="0"/>
              <a:t>13</a:t>
            </a:fld>
            <a:endParaRPr lang="en-IN"/>
          </a:p>
        </p:txBody>
      </p:sp>
    </p:spTree>
    <p:extLst>
      <p:ext uri="{BB962C8B-B14F-4D97-AF65-F5344CB8AC3E}">
        <p14:creationId xmlns:p14="http://schemas.microsoft.com/office/powerpoint/2010/main" val="2177595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CEADA"/>
          </a:solidFill>
        </p:spPr>
        <p:txBody>
          <a:bodyPr wrap="square" lIns="0" tIns="0" rIns="0" bIns="0" rtlCol="0"/>
          <a:lstStyle/>
          <a:p>
            <a:endParaRPr/>
          </a:p>
        </p:txBody>
      </p:sp>
      <p:sp>
        <p:nvSpPr>
          <p:cNvPr id="2" name="Holder 2"/>
          <p:cNvSpPr>
            <a:spLocks noGrp="1"/>
          </p:cNvSpPr>
          <p:nvPr>
            <p:ph type="ctrTitle"/>
          </p:nvPr>
        </p:nvSpPr>
        <p:spPr>
          <a:xfrm>
            <a:off x="5964554" y="709930"/>
            <a:ext cx="7192009" cy="849630"/>
          </a:xfrm>
          <a:prstGeom prst="rect">
            <a:avLst/>
          </a:prstGeom>
        </p:spPr>
        <p:txBody>
          <a:bodyPr wrap="square" lIns="0" tIns="0" rIns="0" bIns="0">
            <a:spAutoFit/>
          </a:bodyPr>
          <a:lstStyle>
            <a:lvl1pPr>
              <a:defRPr sz="5400" b="0" i="0">
                <a:solidFill>
                  <a:srgbClr val="943735"/>
                </a:solidFill>
                <a:latin typeface="Arial Black"/>
                <a:cs typeface="Arial Black"/>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000" b="0" i="0">
                <a:solidFill>
                  <a:schemeClr val="tx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888888"/>
                </a:solidFill>
                <a:latin typeface="Cambria"/>
                <a:cs typeface="Cambria"/>
              </a:defRPr>
            </a:lvl1pPr>
          </a:lstStyle>
          <a:p>
            <a:pPr marL="12700">
              <a:lnSpc>
                <a:spcPct val="100000"/>
              </a:lnSpc>
              <a:spcBef>
                <a:spcPts val="65"/>
              </a:spcBef>
            </a:pPr>
            <a:r>
              <a:rPr dirty="0"/>
              <a:t>Department</a:t>
            </a:r>
            <a:r>
              <a:rPr spc="125" dirty="0"/>
              <a:t> </a:t>
            </a:r>
            <a:r>
              <a:rPr dirty="0"/>
              <a:t>of</a:t>
            </a:r>
            <a:r>
              <a:rPr spc="114" dirty="0"/>
              <a:t> </a:t>
            </a:r>
            <a:r>
              <a:rPr spc="70" dirty="0"/>
              <a:t>CSE(AI&amp;ML),</a:t>
            </a:r>
            <a:r>
              <a:rPr spc="75" dirty="0"/>
              <a:t> </a:t>
            </a:r>
            <a:r>
              <a:rPr spc="114" dirty="0"/>
              <a:t>MCE,</a:t>
            </a:r>
            <a:r>
              <a:rPr spc="165" dirty="0"/>
              <a:t> </a:t>
            </a:r>
            <a:r>
              <a:rPr spc="-10" dirty="0"/>
              <a:t>Hassan</a:t>
            </a:r>
          </a:p>
        </p:txBody>
      </p:sp>
      <p:sp>
        <p:nvSpPr>
          <p:cNvPr id="5" name="Holder 5"/>
          <p:cNvSpPr>
            <a:spLocks noGrp="1"/>
          </p:cNvSpPr>
          <p:nvPr>
            <p:ph type="dt" sz="half" idx="6"/>
          </p:nvPr>
        </p:nvSpPr>
        <p:spPr/>
        <p:txBody>
          <a:bodyPr lIns="0" tIns="0" rIns="0" bIns="0"/>
          <a:lstStyle>
            <a:lvl1pPr>
              <a:defRPr sz="1400" b="0" i="0">
                <a:solidFill>
                  <a:srgbClr val="888888"/>
                </a:solidFill>
                <a:latin typeface="Calibri"/>
                <a:cs typeface="Calibri"/>
              </a:defRPr>
            </a:lvl1pPr>
          </a:lstStyle>
          <a:p>
            <a:pPr marL="12700">
              <a:lnSpc>
                <a:spcPct val="100000"/>
              </a:lnSpc>
              <a:spcBef>
                <a:spcPts val="60"/>
              </a:spcBef>
            </a:pPr>
            <a:r>
              <a:rPr spc="-10" dirty="0"/>
              <a:t>07-05-</a:t>
            </a:r>
            <a:r>
              <a:rPr spc="-20" dirty="0"/>
              <a:t>2025</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rgbClr val="943735"/>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3000" b="0" i="0">
                <a:solidFill>
                  <a:schemeClr val="tx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888888"/>
                </a:solidFill>
                <a:latin typeface="Cambria"/>
                <a:cs typeface="Cambria"/>
              </a:defRPr>
            </a:lvl1pPr>
          </a:lstStyle>
          <a:p>
            <a:pPr marL="12700">
              <a:lnSpc>
                <a:spcPct val="100000"/>
              </a:lnSpc>
              <a:spcBef>
                <a:spcPts val="65"/>
              </a:spcBef>
            </a:pPr>
            <a:r>
              <a:rPr dirty="0"/>
              <a:t>Department</a:t>
            </a:r>
            <a:r>
              <a:rPr spc="125" dirty="0"/>
              <a:t> </a:t>
            </a:r>
            <a:r>
              <a:rPr dirty="0"/>
              <a:t>of</a:t>
            </a:r>
            <a:r>
              <a:rPr spc="114" dirty="0"/>
              <a:t> </a:t>
            </a:r>
            <a:r>
              <a:rPr spc="70" dirty="0"/>
              <a:t>CSE(AI&amp;ML),</a:t>
            </a:r>
            <a:r>
              <a:rPr spc="75" dirty="0"/>
              <a:t> </a:t>
            </a:r>
            <a:r>
              <a:rPr spc="114" dirty="0"/>
              <a:t>MCE,</a:t>
            </a:r>
            <a:r>
              <a:rPr spc="165" dirty="0"/>
              <a:t> </a:t>
            </a:r>
            <a:r>
              <a:rPr spc="-10" dirty="0"/>
              <a:t>Hassan</a:t>
            </a:r>
          </a:p>
        </p:txBody>
      </p:sp>
      <p:sp>
        <p:nvSpPr>
          <p:cNvPr id="5" name="Holder 5"/>
          <p:cNvSpPr>
            <a:spLocks noGrp="1"/>
          </p:cNvSpPr>
          <p:nvPr>
            <p:ph type="dt" sz="half" idx="6"/>
          </p:nvPr>
        </p:nvSpPr>
        <p:spPr/>
        <p:txBody>
          <a:bodyPr lIns="0" tIns="0" rIns="0" bIns="0"/>
          <a:lstStyle>
            <a:lvl1pPr>
              <a:defRPr sz="1400" b="0" i="0">
                <a:solidFill>
                  <a:srgbClr val="888888"/>
                </a:solidFill>
                <a:latin typeface="Calibri"/>
                <a:cs typeface="Calibri"/>
              </a:defRPr>
            </a:lvl1pPr>
          </a:lstStyle>
          <a:p>
            <a:pPr marL="12700">
              <a:lnSpc>
                <a:spcPct val="100000"/>
              </a:lnSpc>
              <a:spcBef>
                <a:spcPts val="60"/>
              </a:spcBef>
            </a:pPr>
            <a:r>
              <a:rPr spc="-10" dirty="0"/>
              <a:t>07-05-</a:t>
            </a:r>
            <a:r>
              <a:rPr spc="-20" dirty="0"/>
              <a:t>2025</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rgbClr val="943735"/>
                </a:solidFill>
                <a:latin typeface="Arial Black"/>
                <a:cs typeface="Arial Black"/>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rgbClr val="888888"/>
                </a:solidFill>
                <a:latin typeface="Cambria"/>
                <a:cs typeface="Cambria"/>
              </a:defRPr>
            </a:lvl1pPr>
          </a:lstStyle>
          <a:p>
            <a:pPr marL="12700">
              <a:lnSpc>
                <a:spcPct val="100000"/>
              </a:lnSpc>
              <a:spcBef>
                <a:spcPts val="65"/>
              </a:spcBef>
            </a:pPr>
            <a:r>
              <a:rPr dirty="0"/>
              <a:t>Department</a:t>
            </a:r>
            <a:r>
              <a:rPr spc="125" dirty="0"/>
              <a:t> </a:t>
            </a:r>
            <a:r>
              <a:rPr dirty="0"/>
              <a:t>of</a:t>
            </a:r>
            <a:r>
              <a:rPr spc="114" dirty="0"/>
              <a:t> </a:t>
            </a:r>
            <a:r>
              <a:rPr spc="70" dirty="0"/>
              <a:t>CSE(AI&amp;ML),</a:t>
            </a:r>
            <a:r>
              <a:rPr spc="75" dirty="0"/>
              <a:t> </a:t>
            </a:r>
            <a:r>
              <a:rPr spc="114" dirty="0"/>
              <a:t>MCE,</a:t>
            </a:r>
            <a:r>
              <a:rPr spc="165" dirty="0"/>
              <a:t> </a:t>
            </a:r>
            <a:r>
              <a:rPr spc="-10" dirty="0"/>
              <a:t>Hassan</a:t>
            </a:r>
          </a:p>
        </p:txBody>
      </p:sp>
      <p:sp>
        <p:nvSpPr>
          <p:cNvPr id="6" name="Holder 6"/>
          <p:cNvSpPr>
            <a:spLocks noGrp="1"/>
          </p:cNvSpPr>
          <p:nvPr>
            <p:ph type="dt" sz="half" idx="6"/>
          </p:nvPr>
        </p:nvSpPr>
        <p:spPr/>
        <p:txBody>
          <a:bodyPr lIns="0" tIns="0" rIns="0" bIns="0"/>
          <a:lstStyle>
            <a:lvl1pPr>
              <a:defRPr sz="1400" b="0" i="0">
                <a:solidFill>
                  <a:srgbClr val="888888"/>
                </a:solidFill>
                <a:latin typeface="Calibri"/>
                <a:cs typeface="Calibri"/>
              </a:defRPr>
            </a:lvl1pPr>
          </a:lstStyle>
          <a:p>
            <a:pPr marL="12700">
              <a:lnSpc>
                <a:spcPct val="100000"/>
              </a:lnSpc>
              <a:spcBef>
                <a:spcPts val="60"/>
              </a:spcBef>
            </a:pPr>
            <a:r>
              <a:rPr spc="-10" dirty="0"/>
              <a:t>07-05-</a:t>
            </a:r>
            <a:r>
              <a:rPr spc="-20" dirty="0"/>
              <a:t>2025</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CEADA"/>
          </a:solidFill>
        </p:spPr>
        <p:txBody>
          <a:bodyPr wrap="square" lIns="0" tIns="0" rIns="0" bIns="0" rtlCol="0"/>
          <a:lstStyle/>
          <a:p>
            <a:endParaRPr/>
          </a:p>
        </p:txBody>
      </p:sp>
      <p:sp>
        <p:nvSpPr>
          <p:cNvPr id="17" name="bg object 17"/>
          <p:cNvSpPr/>
          <p:nvPr/>
        </p:nvSpPr>
        <p:spPr>
          <a:xfrm>
            <a:off x="4763" y="9420225"/>
            <a:ext cx="18283555" cy="9525"/>
          </a:xfrm>
          <a:custGeom>
            <a:avLst/>
            <a:gdLst/>
            <a:ahLst/>
            <a:cxnLst/>
            <a:rect l="l" t="t" r="r" b="b"/>
            <a:pathLst>
              <a:path w="18283555" h="9525">
                <a:moveTo>
                  <a:pt x="18283236" y="0"/>
                </a:moveTo>
                <a:lnTo>
                  <a:pt x="0" y="0"/>
                </a:lnTo>
                <a:lnTo>
                  <a:pt x="0" y="9525"/>
                </a:lnTo>
                <a:lnTo>
                  <a:pt x="18283236" y="9525"/>
                </a:lnTo>
                <a:lnTo>
                  <a:pt x="18283236" y="0"/>
                </a:lnTo>
                <a:close/>
              </a:path>
            </a:pathLst>
          </a:custGeom>
          <a:solidFill>
            <a:srgbClr val="22583D"/>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4648200" y="2171700"/>
            <a:ext cx="8991600" cy="5181600"/>
          </a:xfrm>
          <a:prstGeom prst="rect">
            <a:avLst/>
          </a:prstGeom>
        </p:spPr>
      </p:pic>
      <p:sp>
        <p:nvSpPr>
          <p:cNvPr id="2" name="Holder 2"/>
          <p:cNvSpPr>
            <a:spLocks noGrp="1"/>
          </p:cNvSpPr>
          <p:nvPr>
            <p:ph type="title"/>
          </p:nvPr>
        </p:nvSpPr>
        <p:spPr/>
        <p:txBody>
          <a:bodyPr lIns="0" tIns="0" rIns="0" bIns="0"/>
          <a:lstStyle>
            <a:lvl1pPr>
              <a:defRPr sz="5400" b="0" i="0">
                <a:solidFill>
                  <a:srgbClr val="943735"/>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defRPr sz="1400" b="0" i="0">
                <a:solidFill>
                  <a:srgbClr val="888888"/>
                </a:solidFill>
                <a:latin typeface="Cambria"/>
                <a:cs typeface="Cambria"/>
              </a:defRPr>
            </a:lvl1pPr>
          </a:lstStyle>
          <a:p>
            <a:pPr marL="12700">
              <a:lnSpc>
                <a:spcPct val="100000"/>
              </a:lnSpc>
              <a:spcBef>
                <a:spcPts val="65"/>
              </a:spcBef>
            </a:pPr>
            <a:r>
              <a:rPr dirty="0"/>
              <a:t>Department</a:t>
            </a:r>
            <a:r>
              <a:rPr spc="125" dirty="0"/>
              <a:t> </a:t>
            </a:r>
            <a:r>
              <a:rPr dirty="0"/>
              <a:t>of</a:t>
            </a:r>
            <a:r>
              <a:rPr spc="114" dirty="0"/>
              <a:t> </a:t>
            </a:r>
            <a:r>
              <a:rPr spc="70" dirty="0"/>
              <a:t>CSE(AI&amp;ML),</a:t>
            </a:r>
            <a:r>
              <a:rPr spc="75" dirty="0"/>
              <a:t> </a:t>
            </a:r>
            <a:r>
              <a:rPr spc="114" dirty="0"/>
              <a:t>MCE,</a:t>
            </a:r>
            <a:r>
              <a:rPr spc="165" dirty="0"/>
              <a:t> </a:t>
            </a:r>
            <a:r>
              <a:rPr spc="-10" dirty="0"/>
              <a:t>Hassan</a:t>
            </a:r>
          </a:p>
        </p:txBody>
      </p:sp>
      <p:sp>
        <p:nvSpPr>
          <p:cNvPr id="4" name="Holder 4"/>
          <p:cNvSpPr>
            <a:spLocks noGrp="1"/>
          </p:cNvSpPr>
          <p:nvPr>
            <p:ph type="dt" sz="half" idx="6"/>
          </p:nvPr>
        </p:nvSpPr>
        <p:spPr/>
        <p:txBody>
          <a:bodyPr lIns="0" tIns="0" rIns="0" bIns="0"/>
          <a:lstStyle>
            <a:lvl1pPr>
              <a:defRPr sz="1400" b="0" i="0">
                <a:solidFill>
                  <a:srgbClr val="888888"/>
                </a:solidFill>
                <a:latin typeface="Calibri"/>
                <a:cs typeface="Calibri"/>
              </a:defRPr>
            </a:lvl1pPr>
          </a:lstStyle>
          <a:p>
            <a:pPr marL="12700">
              <a:lnSpc>
                <a:spcPct val="100000"/>
              </a:lnSpc>
              <a:spcBef>
                <a:spcPts val="60"/>
              </a:spcBef>
            </a:pPr>
            <a:r>
              <a:rPr spc="-10" dirty="0"/>
              <a:t>07-05-</a:t>
            </a:r>
            <a:r>
              <a:rPr spc="-20" dirty="0"/>
              <a:t>2025</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CEADA"/>
          </a:solidFill>
        </p:spPr>
        <p:txBody>
          <a:bodyPr wrap="square" lIns="0" tIns="0" rIns="0" bIns="0" rtlCol="0"/>
          <a:lstStyle/>
          <a:p>
            <a:endParaRPr/>
          </a:p>
        </p:txBody>
      </p:sp>
      <p:sp>
        <p:nvSpPr>
          <p:cNvPr id="17" name="bg object 17"/>
          <p:cNvSpPr/>
          <p:nvPr/>
        </p:nvSpPr>
        <p:spPr>
          <a:xfrm>
            <a:off x="4763" y="9420225"/>
            <a:ext cx="18283555" cy="9525"/>
          </a:xfrm>
          <a:custGeom>
            <a:avLst/>
            <a:gdLst/>
            <a:ahLst/>
            <a:cxnLst/>
            <a:rect l="l" t="t" r="r" b="b"/>
            <a:pathLst>
              <a:path w="18283555" h="9525">
                <a:moveTo>
                  <a:pt x="18283236" y="0"/>
                </a:moveTo>
                <a:lnTo>
                  <a:pt x="0" y="0"/>
                </a:lnTo>
                <a:lnTo>
                  <a:pt x="0" y="9525"/>
                </a:lnTo>
                <a:lnTo>
                  <a:pt x="18283236" y="9525"/>
                </a:lnTo>
                <a:lnTo>
                  <a:pt x="18283236" y="0"/>
                </a:lnTo>
                <a:close/>
              </a:path>
            </a:pathLst>
          </a:custGeom>
          <a:solidFill>
            <a:srgbClr val="22583D"/>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4800600" y="3009900"/>
            <a:ext cx="9296400" cy="5029200"/>
          </a:xfrm>
          <a:prstGeom prst="rect">
            <a:avLst/>
          </a:prstGeom>
        </p:spPr>
      </p:pic>
      <p:sp>
        <p:nvSpPr>
          <p:cNvPr id="2" name="Holder 2"/>
          <p:cNvSpPr>
            <a:spLocks noGrp="1"/>
          </p:cNvSpPr>
          <p:nvPr>
            <p:ph type="ftr" sz="quarter" idx="5"/>
          </p:nvPr>
        </p:nvSpPr>
        <p:spPr/>
        <p:txBody>
          <a:bodyPr lIns="0" tIns="0" rIns="0" bIns="0"/>
          <a:lstStyle>
            <a:lvl1pPr>
              <a:defRPr sz="1400" b="0" i="0">
                <a:solidFill>
                  <a:srgbClr val="888888"/>
                </a:solidFill>
                <a:latin typeface="Cambria"/>
                <a:cs typeface="Cambria"/>
              </a:defRPr>
            </a:lvl1pPr>
          </a:lstStyle>
          <a:p>
            <a:pPr marL="12700">
              <a:lnSpc>
                <a:spcPct val="100000"/>
              </a:lnSpc>
              <a:spcBef>
                <a:spcPts val="65"/>
              </a:spcBef>
            </a:pPr>
            <a:r>
              <a:rPr dirty="0"/>
              <a:t>Department</a:t>
            </a:r>
            <a:r>
              <a:rPr spc="125" dirty="0"/>
              <a:t> </a:t>
            </a:r>
            <a:r>
              <a:rPr dirty="0"/>
              <a:t>of</a:t>
            </a:r>
            <a:r>
              <a:rPr spc="114" dirty="0"/>
              <a:t> </a:t>
            </a:r>
            <a:r>
              <a:rPr spc="70" dirty="0"/>
              <a:t>CSE(AI&amp;ML),</a:t>
            </a:r>
            <a:r>
              <a:rPr spc="75" dirty="0"/>
              <a:t> </a:t>
            </a:r>
            <a:r>
              <a:rPr spc="114" dirty="0"/>
              <a:t>MCE,</a:t>
            </a:r>
            <a:r>
              <a:rPr spc="165" dirty="0"/>
              <a:t> </a:t>
            </a:r>
            <a:r>
              <a:rPr spc="-10" dirty="0"/>
              <a:t>Hassan</a:t>
            </a:r>
          </a:p>
        </p:txBody>
      </p:sp>
      <p:sp>
        <p:nvSpPr>
          <p:cNvPr id="3" name="Holder 3"/>
          <p:cNvSpPr>
            <a:spLocks noGrp="1"/>
          </p:cNvSpPr>
          <p:nvPr>
            <p:ph type="dt" sz="half" idx="6"/>
          </p:nvPr>
        </p:nvSpPr>
        <p:spPr/>
        <p:txBody>
          <a:bodyPr lIns="0" tIns="0" rIns="0" bIns="0"/>
          <a:lstStyle>
            <a:lvl1pPr>
              <a:defRPr sz="1400" b="0" i="0">
                <a:solidFill>
                  <a:srgbClr val="888888"/>
                </a:solidFill>
                <a:latin typeface="Calibri"/>
                <a:cs typeface="Calibri"/>
              </a:defRPr>
            </a:lvl1pPr>
          </a:lstStyle>
          <a:p>
            <a:pPr marL="12700">
              <a:lnSpc>
                <a:spcPct val="100000"/>
              </a:lnSpc>
              <a:spcBef>
                <a:spcPts val="60"/>
              </a:spcBef>
            </a:pPr>
            <a:r>
              <a:rPr spc="-10" dirty="0"/>
              <a:t>07-05-</a:t>
            </a:r>
            <a:r>
              <a:rPr spc="-20" dirty="0"/>
              <a:t>2025</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ct val="100000"/>
              </a:lnSpc>
              <a:spcBef>
                <a:spcPts val="40"/>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9EF"/>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solidFill>
            <a:srgbClr val="FCEADA"/>
          </a:solidFill>
        </p:spPr>
        <p:txBody>
          <a:bodyPr wrap="square" lIns="0" tIns="0" rIns="0" bIns="0" rtlCol="0"/>
          <a:lstStyle/>
          <a:p>
            <a:endParaRPr/>
          </a:p>
        </p:txBody>
      </p:sp>
      <p:sp>
        <p:nvSpPr>
          <p:cNvPr id="17" name="bg object 17"/>
          <p:cNvSpPr/>
          <p:nvPr/>
        </p:nvSpPr>
        <p:spPr>
          <a:xfrm>
            <a:off x="4763" y="9420225"/>
            <a:ext cx="18283555" cy="9525"/>
          </a:xfrm>
          <a:custGeom>
            <a:avLst/>
            <a:gdLst/>
            <a:ahLst/>
            <a:cxnLst/>
            <a:rect l="l" t="t" r="r" b="b"/>
            <a:pathLst>
              <a:path w="18283555" h="9525">
                <a:moveTo>
                  <a:pt x="18283236" y="0"/>
                </a:moveTo>
                <a:lnTo>
                  <a:pt x="0" y="0"/>
                </a:lnTo>
                <a:lnTo>
                  <a:pt x="0" y="9525"/>
                </a:lnTo>
                <a:lnTo>
                  <a:pt x="18283236" y="9525"/>
                </a:lnTo>
                <a:lnTo>
                  <a:pt x="18283236" y="0"/>
                </a:lnTo>
                <a:close/>
              </a:path>
            </a:pathLst>
          </a:custGeom>
          <a:solidFill>
            <a:srgbClr val="22583D"/>
          </a:solidFill>
        </p:spPr>
        <p:txBody>
          <a:bodyPr wrap="square" lIns="0" tIns="0" rIns="0" bIns="0" rtlCol="0"/>
          <a:lstStyle/>
          <a:p>
            <a:endParaRPr/>
          </a:p>
        </p:txBody>
      </p:sp>
      <p:sp>
        <p:nvSpPr>
          <p:cNvPr id="2" name="Holder 2"/>
          <p:cNvSpPr>
            <a:spLocks noGrp="1"/>
          </p:cNvSpPr>
          <p:nvPr>
            <p:ph type="title"/>
          </p:nvPr>
        </p:nvSpPr>
        <p:spPr>
          <a:xfrm>
            <a:off x="7010400" y="665098"/>
            <a:ext cx="4273550" cy="849630"/>
          </a:xfrm>
          <a:prstGeom prst="rect">
            <a:avLst/>
          </a:prstGeom>
        </p:spPr>
        <p:txBody>
          <a:bodyPr wrap="square" lIns="0" tIns="0" rIns="0" bIns="0">
            <a:spAutoFit/>
          </a:bodyPr>
          <a:lstStyle>
            <a:lvl1pPr>
              <a:defRPr sz="5400" b="0" i="0">
                <a:solidFill>
                  <a:srgbClr val="943735"/>
                </a:solidFill>
                <a:latin typeface="Arial Black"/>
                <a:cs typeface="Arial Black"/>
              </a:defRPr>
            </a:lvl1pPr>
          </a:lstStyle>
          <a:p>
            <a:endParaRPr/>
          </a:p>
        </p:txBody>
      </p:sp>
      <p:sp>
        <p:nvSpPr>
          <p:cNvPr id="3" name="Holder 3"/>
          <p:cNvSpPr>
            <a:spLocks noGrp="1"/>
          </p:cNvSpPr>
          <p:nvPr>
            <p:ph type="body" idx="1"/>
          </p:nvPr>
        </p:nvSpPr>
        <p:spPr>
          <a:xfrm>
            <a:off x="8617584" y="1880934"/>
            <a:ext cx="8462644" cy="6889750"/>
          </a:xfrm>
          <a:prstGeom prst="rect">
            <a:avLst/>
          </a:prstGeom>
        </p:spPr>
        <p:txBody>
          <a:bodyPr wrap="square" lIns="0" tIns="0" rIns="0" bIns="0">
            <a:spAutoFit/>
          </a:bodyPr>
          <a:lstStyle>
            <a:lvl1pPr>
              <a:defRPr sz="3000" b="0" i="0">
                <a:solidFill>
                  <a:schemeClr val="tx1"/>
                </a:solidFill>
                <a:latin typeface="Cambria"/>
                <a:cs typeface="Cambria"/>
              </a:defRPr>
            </a:lvl1pPr>
          </a:lstStyle>
          <a:p>
            <a:endParaRPr/>
          </a:p>
        </p:txBody>
      </p:sp>
      <p:sp>
        <p:nvSpPr>
          <p:cNvPr id="4" name="Holder 4"/>
          <p:cNvSpPr>
            <a:spLocks noGrp="1"/>
          </p:cNvSpPr>
          <p:nvPr>
            <p:ph type="ftr" sz="quarter" idx="5"/>
          </p:nvPr>
        </p:nvSpPr>
        <p:spPr>
          <a:xfrm>
            <a:off x="7849616" y="9709005"/>
            <a:ext cx="3434079" cy="250825"/>
          </a:xfrm>
          <a:prstGeom prst="rect">
            <a:avLst/>
          </a:prstGeom>
        </p:spPr>
        <p:txBody>
          <a:bodyPr wrap="square" lIns="0" tIns="0" rIns="0" bIns="0">
            <a:spAutoFit/>
          </a:bodyPr>
          <a:lstStyle>
            <a:lvl1pPr>
              <a:defRPr sz="1400" b="0" i="0">
                <a:solidFill>
                  <a:srgbClr val="888888"/>
                </a:solidFill>
                <a:latin typeface="Cambria"/>
                <a:cs typeface="Cambria"/>
              </a:defRPr>
            </a:lvl1pPr>
          </a:lstStyle>
          <a:p>
            <a:pPr marL="12700">
              <a:lnSpc>
                <a:spcPct val="100000"/>
              </a:lnSpc>
              <a:spcBef>
                <a:spcPts val="65"/>
              </a:spcBef>
            </a:pPr>
            <a:r>
              <a:rPr dirty="0"/>
              <a:t>Department</a:t>
            </a:r>
            <a:r>
              <a:rPr spc="125" dirty="0"/>
              <a:t> </a:t>
            </a:r>
            <a:r>
              <a:rPr dirty="0"/>
              <a:t>of</a:t>
            </a:r>
            <a:r>
              <a:rPr spc="114" dirty="0"/>
              <a:t> </a:t>
            </a:r>
            <a:r>
              <a:rPr spc="70" dirty="0"/>
              <a:t>CSE(AI&amp;ML),</a:t>
            </a:r>
            <a:r>
              <a:rPr spc="75" dirty="0"/>
              <a:t> </a:t>
            </a:r>
            <a:r>
              <a:rPr spc="114" dirty="0"/>
              <a:t>MCE,</a:t>
            </a:r>
            <a:r>
              <a:rPr spc="165" dirty="0"/>
              <a:t> </a:t>
            </a:r>
            <a:r>
              <a:rPr spc="-10" dirty="0"/>
              <a:t>Hassan</a:t>
            </a:r>
          </a:p>
        </p:txBody>
      </p:sp>
      <p:sp>
        <p:nvSpPr>
          <p:cNvPr id="5" name="Holder 5"/>
          <p:cNvSpPr>
            <a:spLocks noGrp="1"/>
          </p:cNvSpPr>
          <p:nvPr>
            <p:ph type="dt" sz="half" idx="6"/>
          </p:nvPr>
        </p:nvSpPr>
        <p:spPr>
          <a:xfrm>
            <a:off x="917575" y="9729254"/>
            <a:ext cx="864235" cy="247015"/>
          </a:xfrm>
          <a:prstGeom prst="rect">
            <a:avLst/>
          </a:prstGeom>
        </p:spPr>
        <p:txBody>
          <a:bodyPr wrap="square" lIns="0" tIns="0" rIns="0" bIns="0">
            <a:spAutoFit/>
          </a:bodyPr>
          <a:lstStyle>
            <a:lvl1pPr>
              <a:defRPr sz="1400" b="0" i="0">
                <a:solidFill>
                  <a:srgbClr val="888888"/>
                </a:solidFill>
                <a:latin typeface="Calibri"/>
                <a:cs typeface="Calibri"/>
              </a:defRPr>
            </a:lvl1pPr>
          </a:lstStyle>
          <a:p>
            <a:pPr marL="12700">
              <a:lnSpc>
                <a:spcPct val="100000"/>
              </a:lnSpc>
              <a:spcBef>
                <a:spcPts val="60"/>
              </a:spcBef>
            </a:pPr>
            <a:r>
              <a:rPr spc="-10" dirty="0"/>
              <a:t>07-05-</a:t>
            </a:r>
            <a:r>
              <a:rPr spc="-20" dirty="0"/>
              <a:t>2025</a:t>
            </a:r>
          </a:p>
        </p:txBody>
      </p:sp>
      <p:sp>
        <p:nvSpPr>
          <p:cNvPr id="6" name="Holder 6"/>
          <p:cNvSpPr>
            <a:spLocks noGrp="1"/>
          </p:cNvSpPr>
          <p:nvPr>
            <p:ph type="sldNum" sz="quarter" idx="7"/>
          </p:nvPr>
        </p:nvSpPr>
        <p:spPr>
          <a:xfrm>
            <a:off x="17173956" y="9723745"/>
            <a:ext cx="215900" cy="21145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ct val="100000"/>
              </a:lnSpc>
              <a:spcBef>
                <a:spcPts val="4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hyperlink" Target="https://doi.org/10.48550/arXiv.2510.09244"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48200" y="2247900"/>
            <a:ext cx="8793480" cy="909864"/>
          </a:xfrm>
          <a:prstGeom prst="rect">
            <a:avLst/>
          </a:prstGeom>
        </p:spPr>
        <p:txBody>
          <a:bodyPr vert="horz" wrap="square" lIns="0" tIns="34290" rIns="0" bIns="0" rtlCol="0">
            <a:spAutoFit/>
          </a:bodyPr>
          <a:lstStyle/>
          <a:p>
            <a:pPr marL="1607820" marR="5080" indent="-1595755" algn="ctr">
              <a:lnSpc>
                <a:spcPts val="5700"/>
              </a:lnSpc>
              <a:spcBef>
                <a:spcPts val="270"/>
              </a:spcBef>
              <a:tabLst>
                <a:tab pos="6000750" algn="l"/>
              </a:tabLst>
            </a:pPr>
            <a:r>
              <a:rPr lang="en-US" sz="9600" dirty="0" smtClean="0"/>
              <a:t>AURORA</a:t>
            </a:r>
            <a:endParaRPr sz="9600" dirty="0">
              <a:latin typeface="Palatino Linotype"/>
              <a:cs typeface="Palatino Linotype"/>
            </a:endParaRPr>
          </a:p>
        </p:txBody>
      </p:sp>
      <p:sp>
        <p:nvSpPr>
          <p:cNvPr id="5" name="object 5"/>
          <p:cNvSpPr txBox="1"/>
          <p:nvPr/>
        </p:nvSpPr>
        <p:spPr>
          <a:xfrm>
            <a:off x="2476500" y="2476500"/>
            <a:ext cx="13335000" cy="2877070"/>
          </a:xfrm>
          <a:prstGeom prst="rect">
            <a:avLst/>
          </a:prstGeom>
        </p:spPr>
        <p:txBody>
          <a:bodyPr vert="horz" wrap="square" lIns="0" tIns="324485" rIns="0" bIns="0" rtlCol="0">
            <a:spAutoFit/>
          </a:bodyPr>
          <a:lstStyle/>
          <a:p>
            <a:pPr marR="22860" algn="ctr">
              <a:spcBef>
                <a:spcPts val="2555"/>
              </a:spcBef>
            </a:pPr>
            <a:r>
              <a:rPr lang="en-US" sz="4800" dirty="0" smtClean="0"/>
              <a:t> </a:t>
            </a:r>
            <a:r>
              <a:rPr lang="en-US" sz="1600" b="1" dirty="0"/>
              <a:t>Autonomous Understanding &amp; Research Orchestrator for Advanced </a:t>
            </a:r>
            <a:r>
              <a:rPr lang="en-US" sz="1600" b="1" dirty="0" smtClean="0"/>
              <a:t>Science</a:t>
            </a:r>
            <a:endParaRPr lang="en-US" sz="4800" dirty="0" smtClean="0"/>
          </a:p>
          <a:p>
            <a:pPr marR="22860" algn="ctr">
              <a:lnSpc>
                <a:spcPct val="100000"/>
              </a:lnSpc>
              <a:spcBef>
                <a:spcPts val="2555"/>
              </a:spcBef>
            </a:pPr>
            <a:r>
              <a:rPr lang="en-US" sz="4800" dirty="0" smtClean="0"/>
              <a:t>Autonomous </a:t>
            </a:r>
            <a:r>
              <a:rPr lang="en-US" sz="4800" dirty="0" err="1" smtClean="0"/>
              <a:t>Agentic</a:t>
            </a:r>
            <a:r>
              <a:rPr lang="en-US" sz="4800" dirty="0" smtClean="0"/>
              <a:t> AI Research Assistant for Emerging Scientific Domains</a:t>
            </a:r>
            <a:endParaRPr sz="4800" dirty="0">
              <a:latin typeface="Palatino Linotype"/>
              <a:cs typeface="Palatino Linotype"/>
            </a:endParaRPr>
          </a:p>
        </p:txBody>
      </p:sp>
      <p:sp>
        <p:nvSpPr>
          <p:cNvPr id="6" name="object 6"/>
          <p:cNvSpPr txBox="1"/>
          <p:nvPr/>
        </p:nvSpPr>
        <p:spPr>
          <a:xfrm>
            <a:off x="1093787" y="6167564"/>
            <a:ext cx="3395345" cy="513089"/>
          </a:xfrm>
          <a:prstGeom prst="rect">
            <a:avLst/>
          </a:prstGeom>
        </p:spPr>
        <p:txBody>
          <a:bodyPr vert="horz" wrap="square" lIns="0" tIns="12700" rIns="0" bIns="0" rtlCol="0">
            <a:spAutoFit/>
          </a:bodyPr>
          <a:lstStyle/>
          <a:p>
            <a:pPr marL="12700" marR="5080">
              <a:lnSpc>
                <a:spcPct val="151100"/>
              </a:lnSpc>
              <a:spcBef>
                <a:spcPts val="100"/>
              </a:spcBef>
              <a:tabLst>
                <a:tab pos="1983105" algn="l"/>
              </a:tabLst>
            </a:pPr>
            <a:endParaRPr sz="2400" dirty="0">
              <a:latin typeface="Palatino Linotype"/>
              <a:cs typeface="Palatino Linotype"/>
            </a:endParaRPr>
          </a:p>
        </p:txBody>
      </p:sp>
      <p:sp>
        <p:nvSpPr>
          <p:cNvPr id="8" name="object 8"/>
          <p:cNvSpPr txBox="1"/>
          <p:nvPr/>
        </p:nvSpPr>
        <p:spPr>
          <a:xfrm>
            <a:off x="6096000" y="6286500"/>
            <a:ext cx="6096000" cy="2581476"/>
          </a:xfrm>
          <a:prstGeom prst="rect">
            <a:avLst/>
          </a:prstGeom>
        </p:spPr>
        <p:txBody>
          <a:bodyPr vert="horz" wrap="square" lIns="0" tIns="12700" rIns="0" bIns="0" rtlCol="0">
            <a:spAutoFit/>
          </a:bodyPr>
          <a:lstStyle/>
          <a:p>
            <a:pPr marR="885190" algn="ctr">
              <a:lnSpc>
                <a:spcPct val="150000"/>
              </a:lnSpc>
              <a:spcBef>
                <a:spcPts val="100"/>
              </a:spcBef>
            </a:pPr>
            <a:r>
              <a:rPr lang="en-US" sz="3200" b="1" dirty="0" smtClean="0">
                <a:solidFill>
                  <a:srgbClr val="943735"/>
                </a:solidFill>
                <a:latin typeface="Palatino Linotype"/>
                <a:cs typeface="Palatino Linotype"/>
              </a:rPr>
              <a:t>Submitted By</a:t>
            </a:r>
            <a:r>
              <a:rPr sz="3200" b="1" spc="-25" dirty="0" smtClean="0">
                <a:solidFill>
                  <a:srgbClr val="943735"/>
                </a:solidFill>
                <a:latin typeface="Palatino Linotype"/>
                <a:cs typeface="Palatino Linotype"/>
              </a:rPr>
              <a:t>:</a:t>
            </a:r>
            <a:endParaRPr lang="en-US" sz="3200" dirty="0">
              <a:latin typeface="Palatino Linotype"/>
              <a:cs typeface="Palatino Linotype"/>
            </a:endParaRPr>
          </a:p>
          <a:p>
            <a:pPr marR="885190" algn="ctr">
              <a:lnSpc>
                <a:spcPct val="150000"/>
              </a:lnSpc>
              <a:spcBef>
                <a:spcPts val="100"/>
              </a:spcBef>
            </a:pPr>
            <a:r>
              <a:rPr lang="en-US" sz="2400" b="1" spc="-25" dirty="0" err="1" smtClean="0">
                <a:solidFill>
                  <a:srgbClr val="943735"/>
                </a:solidFill>
                <a:latin typeface="Palatino Linotype"/>
                <a:cs typeface="Palatino Linotype"/>
              </a:rPr>
              <a:t>Nithyashree</a:t>
            </a:r>
            <a:r>
              <a:rPr lang="en-US" sz="2400" b="1" spc="-25" dirty="0" smtClean="0">
                <a:solidFill>
                  <a:srgbClr val="943735"/>
                </a:solidFill>
                <a:latin typeface="Palatino Linotype"/>
                <a:cs typeface="Palatino Linotype"/>
              </a:rPr>
              <a:t> CP</a:t>
            </a:r>
          </a:p>
          <a:p>
            <a:pPr marL="161925" marR="5080" indent="-3810" algn="ctr">
              <a:lnSpc>
                <a:spcPct val="170700"/>
              </a:lnSpc>
              <a:spcBef>
                <a:spcPts val="40"/>
              </a:spcBef>
            </a:pPr>
            <a:r>
              <a:rPr lang="en-US" sz="2400" dirty="0" smtClean="0"/>
              <a:t>Computer Science &amp; Engineering (AI&amp;ML)</a:t>
            </a:r>
            <a:r>
              <a:rPr sz="2400" b="1" spc="-25" dirty="0" smtClean="0">
                <a:solidFill>
                  <a:srgbClr val="943735"/>
                </a:solidFill>
                <a:latin typeface="Palatino Linotype"/>
                <a:cs typeface="Palatino Linotype"/>
              </a:rPr>
              <a:t> </a:t>
            </a:r>
            <a:endParaRPr lang="en-US" sz="2400" b="1" spc="-25" dirty="0">
              <a:solidFill>
                <a:srgbClr val="943735"/>
              </a:solidFill>
              <a:latin typeface="Palatino Linotype"/>
              <a:cs typeface="Palatino Linotype"/>
            </a:endParaRPr>
          </a:p>
          <a:p>
            <a:pPr marL="161925" marR="5080" indent="-3810" algn="ctr">
              <a:lnSpc>
                <a:spcPct val="170700"/>
              </a:lnSpc>
              <a:spcBef>
                <a:spcPts val="40"/>
              </a:spcBef>
            </a:pPr>
            <a:endParaRPr sz="2400" dirty="0">
              <a:latin typeface="Palatino Linotype"/>
              <a:cs typeface="Palatino Linotype"/>
            </a:endParaRPr>
          </a:p>
        </p:txBody>
      </p:sp>
      <p:sp>
        <p:nvSpPr>
          <p:cNvPr id="9" name="object 9"/>
          <p:cNvSpPr txBox="1"/>
          <p:nvPr/>
        </p:nvSpPr>
        <p:spPr>
          <a:xfrm>
            <a:off x="7849616" y="9701847"/>
            <a:ext cx="3434079" cy="242570"/>
          </a:xfrm>
          <a:prstGeom prst="rect">
            <a:avLst/>
          </a:prstGeom>
        </p:spPr>
        <p:txBody>
          <a:bodyPr vert="horz" wrap="square" lIns="0" tIns="15875" rIns="0" bIns="0" rtlCol="0">
            <a:spAutoFit/>
          </a:bodyPr>
          <a:lstStyle/>
          <a:p>
            <a:pPr marL="12700">
              <a:lnSpc>
                <a:spcPct val="100000"/>
              </a:lnSpc>
              <a:spcBef>
                <a:spcPts val="125"/>
              </a:spcBef>
            </a:pPr>
            <a:r>
              <a:rPr sz="1400" dirty="0">
                <a:latin typeface="Cambria"/>
                <a:cs typeface="Cambria"/>
              </a:rPr>
              <a:t>Department</a:t>
            </a:r>
            <a:r>
              <a:rPr sz="1400" spc="125" dirty="0">
                <a:latin typeface="Cambria"/>
                <a:cs typeface="Cambria"/>
              </a:rPr>
              <a:t> </a:t>
            </a:r>
            <a:r>
              <a:rPr sz="1400" dirty="0">
                <a:latin typeface="Cambria"/>
                <a:cs typeface="Cambria"/>
              </a:rPr>
              <a:t>of</a:t>
            </a:r>
            <a:r>
              <a:rPr sz="1400" spc="114" dirty="0">
                <a:latin typeface="Cambria"/>
                <a:cs typeface="Cambria"/>
              </a:rPr>
              <a:t> </a:t>
            </a:r>
            <a:r>
              <a:rPr sz="1400" spc="70" dirty="0">
                <a:latin typeface="Cambria"/>
                <a:cs typeface="Cambria"/>
              </a:rPr>
              <a:t>CSE(AI&amp;ML),</a:t>
            </a:r>
            <a:r>
              <a:rPr sz="1400" spc="75" dirty="0">
                <a:latin typeface="Cambria"/>
                <a:cs typeface="Cambria"/>
              </a:rPr>
              <a:t> </a:t>
            </a:r>
            <a:r>
              <a:rPr sz="1400" spc="114" dirty="0">
                <a:latin typeface="Cambria"/>
                <a:cs typeface="Cambria"/>
              </a:rPr>
              <a:t>MCE,</a:t>
            </a:r>
            <a:r>
              <a:rPr sz="1400" spc="165" dirty="0">
                <a:latin typeface="Cambria"/>
                <a:cs typeface="Cambria"/>
              </a:rPr>
              <a:t> </a:t>
            </a:r>
            <a:r>
              <a:rPr sz="1400" spc="-10" dirty="0">
                <a:latin typeface="Cambria"/>
                <a:cs typeface="Cambria"/>
              </a:rPr>
              <a:t>Hassan</a:t>
            </a:r>
            <a:endParaRPr sz="1400">
              <a:latin typeface="Cambria"/>
              <a:cs typeface="Cambria"/>
            </a:endParaRPr>
          </a:p>
        </p:txBody>
      </p:sp>
      <p:sp>
        <p:nvSpPr>
          <p:cNvPr id="12" name="AutoShape 5">
            <a:extLst>
              <a:ext uri="{FF2B5EF4-FFF2-40B4-BE49-F238E27FC236}">
                <a16:creationId xmlns:a16="http://schemas.microsoft.com/office/drawing/2014/main" xmlns="" id="{EC6EF7D3-9AD3-4EE7-8137-03BF67C268AA}"/>
              </a:ext>
            </a:extLst>
          </p:cNvPr>
          <p:cNvSpPr/>
          <p:nvPr/>
        </p:nvSpPr>
        <p:spPr>
          <a:xfrm>
            <a:off x="0" y="9419765"/>
            <a:ext cx="18288000" cy="0"/>
          </a:xfrm>
          <a:prstGeom prst="line">
            <a:avLst/>
          </a:prstGeom>
          <a:ln w="9525" cap="flat">
            <a:solidFill>
              <a:srgbClr val="23593E"/>
            </a:solidFill>
            <a:prstDash val="solid"/>
            <a:headEnd type="none" w="sm" len="sm"/>
            <a:tailEnd type="none" w="sm" len="sm"/>
          </a:ln>
        </p:spPr>
      </p:sp>
      <p:sp>
        <p:nvSpPr>
          <p:cNvPr id="14" name="object 5">
            <a:extLst>
              <a:ext uri="{FF2B5EF4-FFF2-40B4-BE49-F238E27FC236}">
                <a16:creationId xmlns:a16="http://schemas.microsoft.com/office/drawing/2014/main" xmlns="" id="{9D19A3D6-A164-4A84-8C82-AB711E059B48}"/>
              </a:ext>
            </a:extLst>
          </p:cNvPr>
          <p:cNvSpPr txBox="1">
            <a:spLocks noGrp="1"/>
          </p:cNvSpPr>
          <p:nvPr>
            <p:ph type="dt" sz="half" idx="6"/>
          </p:nvPr>
        </p:nvSpPr>
        <p:spPr>
          <a:xfrm>
            <a:off x="917575" y="9729254"/>
            <a:ext cx="864235" cy="223138"/>
          </a:xfrm>
          <a:prstGeom prst="rect">
            <a:avLst/>
          </a:prstGeom>
        </p:spPr>
        <p:txBody>
          <a:bodyPr vert="horz" wrap="square" lIns="0" tIns="7620" rIns="0" bIns="0" rtlCol="0">
            <a:spAutoFit/>
          </a:bodyPr>
          <a:lstStyle/>
          <a:p>
            <a:pPr marL="12700">
              <a:lnSpc>
                <a:spcPct val="100000"/>
              </a:lnSpc>
              <a:spcBef>
                <a:spcPts val="60"/>
              </a:spcBef>
            </a:pPr>
            <a:r>
              <a:rPr lang="en-US" spc="-10" dirty="0" smtClean="0">
                <a:solidFill>
                  <a:schemeClr val="tx1"/>
                </a:solidFill>
              </a:rPr>
              <a:t>31</a:t>
            </a:r>
            <a:r>
              <a:rPr spc="-10" dirty="0" smtClean="0">
                <a:solidFill>
                  <a:schemeClr val="tx1"/>
                </a:solidFill>
              </a:rPr>
              <a:t>-</a:t>
            </a:r>
            <a:r>
              <a:rPr lang="en-US" spc="-10" dirty="0">
                <a:solidFill>
                  <a:schemeClr val="tx1"/>
                </a:solidFill>
              </a:rPr>
              <a:t>12</a:t>
            </a:r>
            <a:r>
              <a:rPr spc="-10" dirty="0">
                <a:solidFill>
                  <a:schemeClr val="tx1"/>
                </a:solidFill>
              </a:rPr>
              <a:t>-</a:t>
            </a:r>
            <a:r>
              <a:rPr spc="-20" dirty="0">
                <a:solidFill>
                  <a:schemeClr val="tx1"/>
                </a:solidFill>
              </a:rPr>
              <a:t>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052830">
              <a:lnSpc>
                <a:spcPct val="100000"/>
              </a:lnSpc>
              <a:spcBef>
                <a:spcPts val="105"/>
              </a:spcBef>
            </a:pPr>
            <a:r>
              <a:rPr sz="4800" b="1" spc="-10" dirty="0" smtClean="0">
                <a:latin typeface="Palatino Linotype"/>
                <a:cs typeface="Palatino Linotype"/>
              </a:rPr>
              <a:t>Agenda</a:t>
            </a:r>
            <a:endParaRPr sz="4800" dirty="0">
              <a:latin typeface="Palatino Linotype"/>
              <a:cs typeface="Palatino Linotype"/>
            </a:endParaRPr>
          </a:p>
        </p:txBody>
      </p:sp>
      <p:sp>
        <p:nvSpPr>
          <p:cNvPr id="4" name="object 4"/>
          <p:cNvSpPr txBox="1">
            <a:spLocks noGrp="1"/>
          </p:cNvSpPr>
          <p:nvPr>
            <p:ph type="ftr" sz="quarter" idx="5"/>
          </p:nvPr>
        </p:nvSpPr>
        <p:spPr>
          <a:xfrm>
            <a:off x="7849616" y="9709005"/>
            <a:ext cx="3434079" cy="223779"/>
          </a:xfrm>
          <a:prstGeom prst="rect">
            <a:avLst/>
          </a:prstGeom>
        </p:spPr>
        <p:txBody>
          <a:bodyPr vert="horz" wrap="square" lIns="0" tIns="8255" rIns="0" bIns="0" rtlCol="0">
            <a:spAutoFit/>
          </a:bodyPr>
          <a:lstStyle/>
          <a:p>
            <a:pPr marL="12700">
              <a:lnSpc>
                <a:spcPct val="100000"/>
              </a:lnSpc>
              <a:spcBef>
                <a:spcPts val="65"/>
              </a:spcBef>
            </a:pPr>
            <a:r>
              <a:rPr dirty="0">
                <a:solidFill>
                  <a:schemeClr val="tx1"/>
                </a:solidFill>
              </a:rPr>
              <a:t>Department</a:t>
            </a:r>
            <a:r>
              <a:rPr spc="125" dirty="0">
                <a:solidFill>
                  <a:schemeClr val="tx1"/>
                </a:solidFill>
              </a:rPr>
              <a:t> </a:t>
            </a:r>
            <a:r>
              <a:rPr dirty="0">
                <a:solidFill>
                  <a:schemeClr val="tx1"/>
                </a:solidFill>
              </a:rPr>
              <a:t>of</a:t>
            </a:r>
            <a:r>
              <a:rPr spc="114" dirty="0">
                <a:solidFill>
                  <a:schemeClr val="tx1"/>
                </a:solidFill>
              </a:rPr>
              <a:t> </a:t>
            </a:r>
            <a:r>
              <a:rPr spc="70" dirty="0">
                <a:solidFill>
                  <a:schemeClr val="tx1"/>
                </a:solidFill>
              </a:rPr>
              <a:t>CSE(AI&amp;ML),</a:t>
            </a:r>
            <a:r>
              <a:rPr spc="75" dirty="0">
                <a:solidFill>
                  <a:schemeClr val="tx1"/>
                </a:solidFill>
              </a:rPr>
              <a:t> </a:t>
            </a:r>
            <a:r>
              <a:rPr spc="114" dirty="0">
                <a:solidFill>
                  <a:schemeClr val="tx1"/>
                </a:solidFill>
              </a:rPr>
              <a:t>MCE,</a:t>
            </a:r>
            <a:r>
              <a:rPr spc="165" dirty="0">
                <a:solidFill>
                  <a:schemeClr val="tx1"/>
                </a:solidFill>
              </a:rPr>
              <a:t> </a:t>
            </a:r>
            <a:r>
              <a:rPr spc="-10" dirty="0">
                <a:solidFill>
                  <a:schemeClr val="tx1"/>
                </a:solidFill>
              </a:rPr>
              <a:t>Hassan</a:t>
            </a:r>
          </a:p>
        </p:txBody>
      </p:sp>
      <p:sp>
        <p:nvSpPr>
          <p:cNvPr id="6" name="object 6"/>
          <p:cNvSpPr txBox="1">
            <a:spLocks noGrp="1"/>
          </p:cNvSpPr>
          <p:nvPr>
            <p:ph type="sldNum" sz="quarter" idx="7"/>
          </p:nvPr>
        </p:nvSpPr>
        <p:spPr>
          <a:xfrm>
            <a:off x="17173956" y="9723745"/>
            <a:ext cx="215900" cy="189796"/>
          </a:xfrm>
          <a:prstGeom prst="rect">
            <a:avLst/>
          </a:prstGeom>
        </p:spPr>
        <p:txBody>
          <a:bodyPr vert="horz" wrap="square" lIns="0" tIns="5080" rIns="0" bIns="0" rtlCol="0">
            <a:spAutoFit/>
          </a:bodyPr>
          <a:lstStyle/>
          <a:p>
            <a:pPr marL="12700">
              <a:lnSpc>
                <a:spcPct val="100000"/>
              </a:lnSpc>
              <a:spcBef>
                <a:spcPts val="40"/>
              </a:spcBef>
            </a:pPr>
            <a:r>
              <a:rPr spc="-25" dirty="0">
                <a:solidFill>
                  <a:schemeClr val="tx1"/>
                </a:solidFill>
              </a:rPr>
              <a:t>1</a:t>
            </a:r>
          </a:p>
        </p:txBody>
      </p:sp>
      <p:sp>
        <p:nvSpPr>
          <p:cNvPr id="3" name="object 3"/>
          <p:cNvSpPr txBox="1"/>
          <p:nvPr/>
        </p:nvSpPr>
        <p:spPr>
          <a:xfrm>
            <a:off x="2518410" y="2019300"/>
            <a:ext cx="9749790" cy="6286977"/>
          </a:xfrm>
          <a:prstGeom prst="rect">
            <a:avLst/>
          </a:prstGeom>
        </p:spPr>
        <p:txBody>
          <a:bodyPr vert="horz" wrap="square" lIns="0" tIns="15875" rIns="0" bIns="0" rtlCol="0">
            <a:spAutoFit/>
          </a:bodyPr>
          <a:lstStyle/>
          <a:p>
            <a:pPr marL="355600" indent="-342900">
              <a:lnSpc>
                <a:spcPct val="100000"/>
              </a:lnSpc>
              <a:spcBef>
                <a:spcPts val="125"/>
              </a:spcBef>
              <a:buFont typeface="Arial MT"/>
              <a:buChar char="•"/>
              <a:tabLst>
                <a:tab pos="355600" algn="l"/>
              </a:tabLst>
            </a:pPr>
            <a:r>
              <a:rPr lang="en-IN" sz="2750" spc="40" dirty="0" smtClean="0">
                <a:latin typeface="Cambria"/>
                <a:cs typeface="Cambria"/>
              </a:rPr>
              <a:t>Background &amp; Motivation</a:t>
            </a:r>
            <a:endParaRPr sz="2750" dirty="0" smtClean="0">
              <a:latin typeface="Cambria"/>
              <a:cs typeface="Cambria"/>
            </a:endParaRPr>
          </a:p>
          <a:p>
            <a:pPr marL="355600" indent="-342900">
              <a:lnSpc>
                <a:spcPct val="100000"/>
              </a:lnSpc>
              <a:spcBef>
                <a:spcPts val="2405"/>
              </a:spcBef>
              <a:buFont typeface="Arial MT"/>
              <a:buChar char="•"/>
              <a:tabLst>
                <a:tab pos="355600" algn="l"/>
              </a:tabLst>
            </a:pPr>
            <a:r>
              <a:rPr lang="en-IN" sz="2750" dirty="0" smtClean="0">
                <a:latin typeface="Cambria"/>
                <a:cs typeface="Cambria"/>
              </a:rPr>
              <a:t>Problem Statement</a:t>
            </a:r>
          </a:p>
          <a:p>
            <a:pPr marL="355600" indent="-342900">
              <a:lnSpc>
                <a:spcPct val="100000"/>
              </a:lnSpc>
              <a:spcBef>
                <a:spcPts val="2405"/>
              </a:spcBef>
              <a:buFont typeface="Arial MT"/>
              <a:buChar char="•"/>
              <a:tabLst>
                <a:tab pos="355600" algn="l"/>
              </a:tabLst>
            </a:pPr>
            <a:r>
              <a:rPr lang="en-US" sz="2750" spc="114" dirty="0" smtClean="0">
                <a:latin typeface="Cambria"/>
                <a:cs typeface="Cambria"/>
              </a:rPr>
              <a:t>Objectives</a:t>
            </a:r>
            <a:endParaRPr lang="en-IN" sz="2750" spc="114" dirty="0" smtClean="0">
              <a:latin typeface="Cambria"/>
              <a:cs typeface="Cambria"/>
            </a:endParaRPr>
          </a:p>
          <a:p>
            <a:pPr marL="355600" indent="-342900">
              <a:lnSpc>
                <a:spcPct val="100000"/>
              </a:lnSpc>
              <a:spcBef>
                <a:spcPts val="2405"/>
              </a:spcBef>
              <a:buFont typeface="Arial MT"/>
              <a:buChar char="•"/>
              <a:tabLst>
                <a:tab pos="355600" algn="l"/>
              </a:tabLst>
            </a:pPr>
            <a:r>
              <a:rPr lang="en-IN" sz="2750" dirty="0" smtClean="0">
                <a:latin typeface="Cambria"/>
                <a:cs typeface="Cambria"/>
              </a:rPr>
              <a:t>Core Design </a:t>
            </a:r>
            <a:r>
              <a:rPr lang="en-IN" sz="2750" dirty="0" smtClean="0">
                <a:latin typeface="Cambria"/>
                <a:cs typeface="Cambria"/>
              </a:rPr>
              <a:t>of the System</a:t>
            </a:r>
          </a:p>
          <a:p>
            <a:pPr marL="355600" indent="-342900">
              <a:lnSpc>
                <a:spcPct val="100000"/>
              </a:lnSpc>
              <a:spcBef>
                <a:spcPts val="2405"/>
              </a:spcBef>
              <a:buFont typeface="Arial MT"/>
              <a:buChar char="•"/>
              <a:tabLst>
                <a:tab pos="355600" algn="l"/>
              </a:tabLst>
            </a:pPr>
            <a:r>
              <a:rPr lang="en-IN" sz="2750" spc="50" dirty="0" smtClean="0">
                <a:latin typeface="Cambria"/>
                <a:cs typeface="Cambria"/>
              </a:rPr>
              <a:t>System Architecture </a:t>
            </a:r>
            <a:endParaRPr sz="2750" dirty="0" smtClean="0">
              <a:latin typeface="Cambria"/>
              <a:cs typeface="Cambria"/>
            </a:endParaRPr>
          </a:p>
          <a:p>
            <a:pPr marL="355600" indent="-342900">
              <a:lnSpc>
                <a:spcPct val="100000"/>
              </a:lnSpc>
              <a:spcBef>
                <a:spcPts val="2405"/>
              </a:spcBef>
              <a:buFont typeface="Arial MT"/>
              <a:buChar char="•"/>
              <a:tabLst>
                <a:tab pos="355600" algn="l"/>
              </a:tabLst>
            </a:pPr>
            <a:r>
              <a:rPr lang="en-IN" sz="2750" spc="60" dirty="0" smtClean="0">
                <a:latin typeface="Cambria"/>
                <a:cs typeface="Cambria"/>
              </a:rPr>
              <a:t>Agent Responsibilities</a:t>
            </a:r>
          </a:p>
          <a:p>
            <a:pPr marL="355600" indent="-342900">
              <a:lnSpc>
                <a:spcPct val="100000"/>
              </a:lnSpc>
              <a:spcBef>
                <a:spcPts val="2405"/>
              </a:spcBef>
              <a:buFont typeface="Arial MT"/>
              <a:buChar char="•"/>
              <a:tabLst>
                <a:tab pos="355600" algn="l"/>
              </a:tabLst>
            </a:pPr>
            <a:r>
              <a:rPr lang="en-US" sz="2750" spc="55" dirty="0" smtClean="0">
                <a:latin typeface="Cambria"/>
                <a:cs typeface="Cambria"/>
              </a:rPr>
              <a:t>Memory System </a:t>
            </a:r>
          </a:p>
          <a:p>
            <a:pPr marL="355600" indent="-342900">
              <a:lnSpc>
                <a:spcPct val="100000"/>
              </a:lnSpc>
              <a:spcBef>
                <a:spcPts val="2405"/>
              </a:spcBef>
              <a:buFont typeface="Arial MT"/>
              <a:buChar char="•"/>
              <a:tabLst>
                <a:tab pos="355600" algn="l"/>
              </a:tabLst>
            </a:pPr>
            <a:r>
              <a:rPr lang="en-US" sz="2750" dirty="0" smtClean="0">
                <a:latin typeface="Cambria"/>
                <a:cs typeface="Cambria"/>
              </a:rPr>
              <a:t>Technology Stack</a:t>
            </a:r>
          </a:p>
          <a:p>
            <a:pPr marL="355600" indent="-342900">
              <a:lnSpc>
                <a:spcPct val="100000"/>
              </a:lnSpc>
              <a:spcBef>
                <a:spcPts val="2405"/>
              </a:spcBef>
              <a:buFont typeface="Arial MT"/>
              <a:buChar char="•"/>
              <a:tabLst>
                <a:tab pos="355600" algn="l"/>
              </a:tabLst>
            </a:pPr>
            <a:r>
              <a:rPr lang="en-IN" sz="2750" dirty="0" smtClean="0">
                <a:latin typeface="Cambria"/>
                <a:cs typeface="Cambria"/>
              </a:rPr>
              <a:t>Implementation &amp; Deployment</a:t>
            </a:r>
            <a:endParaRPr sz="2750" dirty="0">
              <a:latin typeface="Cambria"/>
              <a:cs typeface="Cambria"/>
            </a:endParaRPr>
          </a:p>
        </p:txBody>
      </p:sp>
      <p:sp>
        <p:nvSpPr>
          <p:cNvPr id="7" name="AutoShape 5">
            <a:extLst>
              <a:ext uri="{FF2B5EF4-FFF2-40B4-BE49-F238E27FC236}">
                <a16:creationId xmlns:a16="http://schemas.microsoft.com/office/drawing/2014/main" xmlns="" id="{6DA40C94-FCA9-4BCB-B7AD-C5C86B0FE669}"/>
              </a:ext>
            </a:extLst>
          </p:cNvPr>
          <p:cNvSpPr/>
          <p:nvPr/>
        </p:nvSpPr>
        <p:spPr>
          <a:xfrm>
            <a:off x="0" y="9419765"/>
            <a:ext cx="18288000" cy="0"/>
          </a:xfrm>
          <a:prstGeom prst="line">
            <a:avLst/>
          </a:prstGeom>
          <a:ln w="9525" cap="flat">
            <a:solidFill>
              <a:srgbClr val="23593E"/>
            </a:solidFill>
            <a:prstDash val="solid"/>
            <a:headEnd type="none" w="sm" len="sm"/>
            <a:tailEnd type="none" w="sm" len="sm"/>
          </a:ln>
        </p:spPr>
      </p:sp>
      <p:sp>
        <p:nvSpPr>
          <p:cNvPr id="9" name="Rectangle 8">
            <a:extLst>
              <a:ext uri="{FF2B5EF4-FFF2-40B4-BE49-F238E27FC236}">
                <a16:creationId xmlns:a16="http://schemas.microsoft.com/office/drawing/2014/main" xmlns="" id="{CE484483-EF81-400A-A64B-02783F1D43BE}"/>
              </a:ext>
            </a:extLst>
          </p:cNvPr>
          <p:cNvSpPr/>
          <p:nvPr/>
        </p:nvSpPr>
        <p:spPr>
          <a:xfrm>
            <a:off x="11125200" y="2019300"/>
            <a:ext cx="4953000" cy="1246495"/>
          </a:xfrm>
          <a:prstGeom prst="rect">
            <a:avLst/>
          </a:prstGeom>
        </p:spPr>
        <p:txBody>
          <a:bodyPr wrap="square">
            <a:spAutoFit/>
          </a:bodyPr>
          <a:lstStyle/>
          <a:p>
            <a:pPr marL="355600" indent="-342900">
              <a:lnSpc>
                <a:spcPct val="100000"/>
              </a:lnSpc>
              <a:spcBef>
                <a:spcPts val="2405"/>
              </a:spcBef>
              <a:buFont typeface="Arial MT"/>
              <a:buChar char="•"/>
              <a:tabLst>
                <a:tab pos="355600" algn="l"/>
              </a:tabLst>
            </a:pPr>
            <a:r>
              <a:rPr lang="en-US" sz="2750" spc="-10" dirty="0" smtClean="0">
                <a:latin typeface="Cambria"/>
                <a:cs typeface="Cambria"/>
              </a:rPr>
              <a:t>Conclusion and </a:t>
            </a:r>
            <a:r>
              <a:rPr lang="en-US" sz="2750" spc="-10" dirty="0" smtClean="0">
                <a:latin typeface="Cambria"/>
                <a:cs typeface="Cambria"/>
              </a:rPr>
              <a:t>Future Scope </a:t>
            </a:r>
            <a:endParaRPr lang="en-US" sz="2750" spc="-10" dirty="0">
              <a:latin typeface="Cambria"/>
              <a:cs typeface="Cambria"/>
            </a:endParaRPr>
          </a:p>
          <a:p>
            <a:pPr marL="355600" indent="-342900">
              <a:lnSpc>
                <a:spcPct val="100000"/>
              </a:lnSpc>
              <a:spcBef>
                <a:spcPts val="2405"/>
              </a:spcBef>
              <a:buFont typeface="Arial MT"/>
              <a:buChar char="•"/>
              <a:tabLst>
                <a:tab pos="355600" algn="l"/>
              </a:tabLst>
            </a:pPr>
            <a:r>
              <a:rPr lang="en-US" sz="2750" spc="-10" dirty="0">
                <a:latin typeface="Cambria"/>
                <a:cs typeface="Cambria"/>
              </a:rPr>
              <a:t>References</a:t>
            </a:r>
            <a:endParaRPr lang="en-US" sz="2750" dirty="0">
              <a:latin typeface="Cambria"/>
              <a:cs typeface="Cambria"/>
            </a:endParaRPr>
          </a:p>
        </p:txBody>
      </p:sp>
      <p:sp>
        <p:nvSpPr>
          <p:cNvPr id="10" name="object 5">
            <a:extLst>
              <a:ext uri="{FF2B5EF4-FFF2-40B4-BE49-F238E27FC236}">
                <a16:creationId xmlns:a16="http://schemas.microsoft.com/office/drawing/2014/main" xmlns="" id="{47492C5E-1BB8-46E2-B331-167C57E42500}"/>
              </a:ext>
            </a:extLst>
          </p:cNvPr>
          <p:cNvSpPr txBox="1">
            <a:spLocks noGrp="1"/>
          </p:cNvSpPr>
          <p:nvPr>
            <p:ph type="dt" sz="half" idx="6"/>
          </p:nvPr>
        </p:nvSpPr>
        <p:spPr>
          <a:xfrm>
            <a:off x="917575" y="9729254"/>
            <a:ext cx="864235" cy="223138"/>
          </a:xfrm>
          <a:prstGeom prst="rect">
            <a:avLst/>
          </a:prstGeom>
        </p:spPr>
        <p:txBody>
          <a:bodyPr vert="horz" wrap="square" lIns="0" tIns="7620" rIns="0" bIns="0" rtlCol="0">
            <a:spAutoFit/>
          </a:bodyPr>
          <a:lstStyle/>
          <a:p>
            <a:pPr marL="12700">
              <a:lnSpc>
                <a:spcPct val="100000"/>
              </a:lnSpc>
              <a:spcBef>
                <a:spcPts val="60"/>
              </a:spcBef>
            </a:pPr>
            <a:r>
              <a:rPr lang="en-US" spc="-10" dirty="0" smtClean="0">
                <a:solidFill>
                  <a:schemeClr val="tx1"/>
                </a:solidFill>
              </a:rPr>
              <a:t>31</a:t>
            </a:r>
            <a:r>
              <a:rPr spc="-10" dirty="0" smtClean="0">
                <a:solidFill>
                  <a:schemeClr val="tx1"/>
                </a:solidFill>
              </a:rPr>
              <a:t>-</a:t>
            </a:r>
            <a:r>
              <a:rPr lang="en-US" spc="-10" dirty="0">
                <a:solidFill>
                  <a:schemeClr val="tx1"/>
                </a:solidFill>
              </a:rPr>
              <a:t>12</a:t>
            </a:r>
            <a:r>
              <a:rPr spc="-10" dirty="0">
                <a:solidFill>
                  <a:schemeClr val="tx1"/>
                </a:solidFill>
              </a:rPr>
              <a:t>-</a:t>
            </a:r>
            <a:r>
              <a:rPr spc="-20" dirty="0">
                <a:solidFill>
                  <a:schemeClr val="tx1"/>
                </a:solidFill>
              </a:rPr>
              <a:t>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4300" y="1104900"/>
            <a:ext cx="10439400" cy="844462"/>
          </a:xfrm>
          <a:prstGeom prst="rect">
            <a:avLst/>
          </a:prstGeom>
        </p:spPr>
        <p:txBody>
          <a:bodyPr vert="horz" wrap="square" lIns="0" tIns="13335" rIns="0" bIns="0" rtlCol="0">
            <a:spAutoFit/>
          </a:bodyPr>
          <a:lstStyle/>
          <a:p>
            <a:pPr marL="12700">
              <a:lnSpc>
                <a:spcPct val="100000"/>
              </a:lnSpc>
              <a:spcBef>
                <a:spcPts val="105"/>
              </a:spcBef>
            </a:pPr>
            <a:r>
              <a:rPr lang="en-IN" spc="-10" dirty="0"/>
              <a:t>Background &amp; Motivation</a:t>
            </a:r>
          </a:p>
        </p:txBody>
      </p:sp>
      <p:sp>
        <p:nvSpPr>
          <p:cNvPr id="3" name="object 3"/>
          <p:cNvSpPr txBox="1"/>
          <p:nvPr/>
        </p:nvSpPr>
        <p:spPr>
          <a:xfrm>
            <a:off x="1828800" y="2768686"/>
            <a:ext cx="7997571" cy="4373377"/>
          </a:xfrm>
          <a:prstGeom prst="rect">
            <a:avLst/>
          </a:prstGeom>
        </p:spPr>
        <p:txBody>
          <a:bodyPr vert="horz" wrap="square" lIns="0" tIns="6985" rIns="0" bIns="0" rtlCol="0">
            <a:spAutoFit/>
          </a:bodyPr>
          <a:lstStyle/>
          <a:p>
            <a:pPr marL="353695" marR="6985" indent="-341630" algn="just">
              <a:lnSpc>
                <a:spcPct val="149500"/>
              </a:lnSpc>
              <a:spcBef>
                <a:spcPts val="55"/>
              </a:spcBef>
              <a:buAutoNum type="arabicPeriod"/>
              <a:tabLst>
                <a:tab pos="355600" algn="l"/>
              </a:tabLst>
            </a:pPr>
            <a:r>
              <a:rPr lang="en-US" sz="3200" spc="95" dirty="0" smtClean="0">
                <a:latin typeface="Cambria"/>
                <a:cs typeface="Cambria"/>
              </a:rPr>
              <a:t>Manual literature review is time-consuming and repetitive</a:t>
            </a:r>
          </a:p>
          <a:p>
            <a:pPr marL="353695" marR="6985" indent="-341630" algn="just">
              <a:lnSpc>
                <a:spcPct val="149500"/>
              </a:lnSpc>
              <a:spcBef>
                <a:spcPts val="55"/>
              </a:spcBef>
              <a:buAutoNum type="arabicPeriod"/>
              <a:tabLst>
                <a:tab pos="355600" algn="l"/>
              </a:tabLst>
            </a:pPr>
            <a:r>
              <a:rPr lang="en-US" sz="3200" spc="95" dirty="0" smtClean="0">
                <a:latin typeface="Cambria"/>
                <a:cs typeface="Cambria"/>
              </a:rPr>
              <a:t>Existing AI tools lack persistence and verification mechanisms</a:t>
            </a:r>
          </a:p>
          <a:p>
            <a:pPr marL="353695" marR="6985" indent="-341630" algn="just">
              <a:lnSpc>
                <a:spcPct val="149500"/>
              </a:lnSpc>
              <a:spcBef>
                <a:spcPts val="55"/>
              </a:spcBef>
              <a:buAutoNum type="arabicPeriod"/>
              <a:tabLst>
                <a:tab pos="355600" algn="l"/>
              </a:tabLst>
            </a:pPr>
            <a:r>
              <a:rPr lang="en-US" sz="3200" spc="95" dirty="0" smtClean="0">
                <a:latin typeface="Cambria"/>
                <a:cs typeface="Cambria"/>
              </a:rPr>
              <a:t>Researchers often repeat similar analysis across sessions</a:t>
            </a:r>
            <a:endParaRPr sz="3200" dirty="0">
              <a:latin typeface="Cambria"/>
              <a:cs typeface="Cambria"/>
            </a:endParaRPr>
          </a:p>
        </p:txBody>
      </p:sp>
      <p:sp>
        <p:nvSpPr>
          <p:cNvPr id="5" name="object 5"/>
          <p:cNvSpPr txBox="1">
            <a:spLocks noGrp="1"/>
          </p:cNvSpPr>
          <p:nvPr>
            <p:ph type="ftr" sz="quarter" idx="5"/>
          </p:nvPr>
        </p:nvSpPr>
        <p:spPr>
          <a:xfrm>
            <a:off x="7849616" y="9709005"/>
            <a:ext cx="3434079" cy="223779"/>
          </a:xfrm>
          <a:prstGeom prst="rect">
            <a:avLst/>
          </a:prstGeom>
        </p:spPr>
        <p:txBody>
          <a:bodyPr vert="horz" wrap="square" lIns="0" tIns="8255" rIns="0" bIns="0" rtlCol="0">
            <a:spAutoFit/>
          </a:bodyPr>
          <a:lstStyle/>
          <a:p>
            <a:pPr marL="12700">
              <a:lnSpc>
                <a:spcPct val="100000"/>
              </a:lnSpc>
              <a:spcBef>
                <a:spcPts val="65"/>
              </a:spcBef>
            </a:pPr>
            <a:r>
              <a:rPr dirty="0">
                <a:solidFill>
                  <a:schemeClr val="tx1"/>
                </a:solidFill>
              </a:rPr>
              <a:t>Department</a:t>
            </a:r>
            <a:r>
              <a:rPr spc="125" dirty="0">
                <a:solidFill>
                  <a:schemeClr val="tx1"/>
                </a:solidFill>
              </a:rPr>
              <a:t> </a:t>
            </a:r>
            <a:r>
              <a:rPr dirty="0">
                <a:solidFill>
                  <a:schemeClr val="tx1"/>
                </a:solidFill>
              </a:rPr>
              <a:t>of</a:t>
            </a:r>
            <a:r>
              <a:rPr spc="114" dirty="0">
                <a:solidFill>
                  <a:schemeClr val="tx1"/>
                </a:solidFill>
              </a:rPr>
              <a:t> </a:t>
            </a:r>
            <a:r>
              <a:rPr spc="70" dirty="0">
                <a:solidFill>
                  <a:schemeClr val="tx1"/>
                </a:solidFill>
              </a:rPr>
              <a:t>CSE(AI&amp;ML),</a:t>
            </a:r>
            <a:r>
              <a:rPr spc="75" dirty="0">
                <a:solidFill>
                  <a:schemeClr val="tx1"/>
                </a:solidFill>
              </a:rPr>
              <a:t> </a:t>
            </a:r>
            <a:r>
              <a:rPr spc="114" dirty="0">
                <a:solidFill>
                  <a:schemeClr val="tx1"/>
                </a:solidFill>
              </a:rPr>
              <a:t>MCE,</a:t>
            </a:r>
            <a:r>
              <a:rPr spc="165" dirty="0">
                <a:solidFill>
                  <a:schemeClr val="tx1"/>
                </a:solidFill>
              </a:rPr>
              <a:t> </a:t>
            </a:r>
            <a:r>
              <a:rPr spc="-10" dirty="0">
                <a:solidFill>
                  <a:schemeClr val="tx1"/>
                </a:solidFill>
              </a:rPr>
              <a:t>Hassan</a:t>
            </a:r>
          </a:p>
        </p:txBody>
      </p:sp>
      <p:sp>
        <p:nvSpPr>
          <p:cNvPr id="7" name="object 7"/>
          <p:cNvSpPr txBox="1">
            <a:spLocks noGrp="1"/>
          </p:cNvSpPr>
          <p:nvPr>
            <p:ph type="sldNum" sz="quarter" idx="7"/>
          </p:nvPr>
        </p:nvSpPr>
        <p:spPr>
          <a:xfrm>
            <a:off x="17173956" y="9754304"/>
            <a:ext cx="215900" cy="189796"/>
          </a:xfrm>
          <a:prstGeom prst="rect">
            <a:avLst/>
          </a:prstGeom>
        </p:spPr>
        <p:txBody>
          <a:bodyPr vert="horz" wrap="square" lIns="0" tIns="5080" rIns="0" bIns="0" rtlCol="0">
            <a:spAutoFit/>
          </a:bodyPr>
          <a:lstStyle/>
          <a:p>
            <a:pPr marL="12700">
              <a:lnSpc>
                <a:spcPct val="100000"/>
              </a:lnSpc>
              <a:spcBef>
                <a:spcPts val="40"/>
              </a:spcBef>
            </a:pPr>
            <a:r>
              <a:rPr spc="-25" dirty="0">
                <a:solidFill>
                  <a:schemeClr val="tx1"/>
                </a:solidFill>
              </a:rPr>
              <a:t>2</a:t>
            </a:r>
          </a:p>
        </p:txBody>
      </p:sp>
      <p:sp>
        <p:nvSpPr>
          <p:cNvPr id="8" name="AutoShape 5">
            <a:extLst>
              <a:ext uri="{FF2B5EF4-FFF2-40B4-BE49-F238E27FC236}">
                <a16:creationId xmlns:a16="http://schemas.microsoft.com/office/drawing/2014/main" xmlns="" id="{B3AE64AA-5F48-402E-A525-B28513F172D5}"/>
              </a:ext>
            </a:extLst>
          </p:cNvPr>
          <p:cNvSpPr/>
          <p:nvPr/>
        </p:nvSpPr>
        <p:spPr>
          <a:xfrm>
            <a:off x="0" y="9419765"/>
            <a:ext cx="18288000" cy="0"/>
          </a:xfrm>
          <a:prstGeom prst="line">
            <a:avLst/>
          </a:prstGeom>
          <a:ln w="9525" cap="flat">
            <a:solidFill>
              <a:srgbClr val="23593E"/>
            </a:solidFill>
            <a:prstDash val="solid"/>
            <a:headEnd type="none" w="sm" len="sm"/>
            <a:tailEnd type="none" w="sm" len="sm"/>
          </a:ln>
        </p:spPr>
      </p:sp>
      <p:sp>
        <p:nvSpPr>
          <p:cNvPr id="10" name="object 5">
            <a:extLst>
              <a:ext uri="{FF2B5EF4-FFF2-40B4-BE49-F238E27FC236}">
                <a16:creationId xmlns:a16="http://schemas.microsoft.com/office/drawing/2014/main" xmlns="" id="{545757C2-1600-4CCB-AF6F-219DD046C1F4}"/>
              </a:ext>
            </a:extLst>
          </p:cNvPr>
          <p:cNvSpPr txBox="1">
            <a:spLocks noGrp="1"/>
          </p:cNvSpPr>
          <p:nvPr>
            <p:ph type="dt" sz="half" idx="6"/>
          </p:nvPr>
        </p:nvSpPr>
        <p:spPr>
          <a:xfrm>
            <a:off x="917575" y="9729254"/>
            <a:ext cx="864235" cy="223138"/>
          </a:xfrm>
          <a:prstGeom prst="rect">
            <a:avLst/>
          </a:prstGeom>
        </p:spPr>
        <p:txBody>
          <a:bodyPr vert="horz" wrap="square" lIns="0" tIns="7620" rIns="0" bIns="0" rtlCol="0">
            <a:spAutoFit/>
          </a:bodyPr>
          <a:lstStyle/>
          <a:p>
            <a:pPr marL="12700">
              <a:lnSpc>
                <a:spcPct val="100000"/>
              </a:lnSpc>
              <a:spcBef>
                <a:spcPts val="60"/>
              </a:spcBef>
            </a:pPr>
            <a:r>
              <a:rPr lang="en-US" spc="-10" dirty="0" smtClean="0">
                <a:solidFill>
                  <a:schemeClr val="tx1"/>
                </a:solidFill>
              </a:rPr>
              <a:t>31</a:t>
            </a:r>
            <a:r>
              <a:rPr spc="-10" dirty="0" smtClean="0">
                <a:solidFill>
                  <a:schemeClr val="tx1"/>
                </a:solidFill>
              </a:rPr>
              <a:t>-</a:t>
            </a:r>
            <a:r>
              <a:rPr lang="en-US" spc="-10" dirty="0">
                <a:solidFill>
                  <a:schemeClr val="tx1"/>
                </a:solidFill>
              </a:rPr>
              <a:t>12</a:t>
            </a:r>
            <a:r>
              <a:rPr spc="-10" dirty="0">
                <a:solidFill>
                  <a:schemeClr val="tx1"/>
                </a:solidFill>
              </a:rPr>
              <a:t>-</a:t>
            </a:r>
            <a:r>
              <a:rPr spc="-20" dirty="0">
                <a:solidFill>
                  <a:schemeClr val="tx1"/>
                </a:solidFill>
              </a:rPr>
              <a:t>2025</a:t>
            </a:r>
          </a:p>
        </p:txBody>
      </p:sp>
      <p:sp>
        <p:nvSpPr>
          <p:cNvPr id="6" name="AutoShape 2" descr="Group People Research Concep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0" y="2781299"/>
            <a:ext cx="6112626" cy="4814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1676400" y="8067381"/>
            <a:ext cx="11887200" cy="461665"/>
          </a:xfrm>
          <a:prstGeom prst="rect">
            <a:avLst/>
          </a:prstGeom>
        </p:spPr>
        <p:txBody>
          <a:bodyPr wrap="square">
            <a:spAutoFit/>
          </a:bodyPr>
          <a:lstStyle/>
          <a:p>
            <a:r>
              <a:rPr lang="en-US" sz="2400" dirty="0" smtClean="0">
                <a:latin typeface="+mj-lt"/>
              </a:rPr>
              <a:t>These limitations motivate the need for an </a:t>
            </a:r>
            <a:r>
              <a:rPr lang="en-US" sz="2400" b="1" dirty="0" smtClean="0">
                <a:latin typeface="+mj-lt"/>
              </a:rPr>
              <a:t>autonomous, memory-enabled research system</a:t>
            </a:r>
            <a:r>
              <a:rPr lang="en-US" sz="2000" dirty="0" smtClean="0">
                <a:latin typeface="+mj-lt"/>
              </a:rPr>
              <a:t>.</a:t>
            </a:r>
            <a:endParaRPr lang="en-IN" sz="2000"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dirty="0"/>
              <a:t>Problem</a:t>
            </a:r>
            <a:r>
              <a:rPr spc="-525" dirty="0"/>
              <a:t> </a:t>
            </a:r>
            <a:r>
              <a:rPr spc="-10" dirty="0"/>
              <a:t>Statement</a:t>
            </a:r>
          </a:p>
        </p:txBody>
      </p:sp>
      <p:sp>
        <p:nvSpPr>
          <p:cNvPr id="3" name="object 3"/>
          <p:cNvSpPr txBox="1"/>
          <p:nvPr/>
        </p:nvSpPr>
        <p:spPr>
          <a:xfrm>
            <a:off x="460057" y="1870008"/>
            <a:ext cx="17455515" cy="3238707"/>
          </a:xfrm>
          <a:prstGeom prst="rect">
            <a:avLst/>
          </a:prstGeom>
        </p:spPr>
        <p:txBody>
          <a:bodyPr vert="horz" wrap="square" lIns="0" tIns="6985" rIns="0" bIns="0" rtlCol="0">
            <a:spAutoFit/>
          </a:bodyPr>
          <a:lstStyle/>
          <a:p>
            <a:pPr marL="12700" marR="5080" algn="just">
              <a:lnSpc>
                <a:spcPct val="150300"/>
              </a:lnSpc>
              <a:spcBef>
                <a:spcPts val="55"/>
              </a:spcBef>
            </a:pPr>
            <a:r>
              <a:rPr sz="3500" spc="155" dirty="0" smtClean="0">
                <a:latin typeface="Cambria"/>
                <a:cs typeface="Cambria"/>
              </a:rPr>
              <a:t>“</a:t>
            </a:r>
            <a:r>
              <a:rPr lang="en-US" sz="3500" dirty="0" smtClean="0">
                <a:latin typeface="Cambria" pitchFamily="18" charset="0"/>
                <a:ea typeface="Cambria" pitchFamily="18" charset="0"/>
              </a:rPr>
              <a:t>Research in emerging scientific domains is increasingly complex due to rapidly growing and fragmented literature, requiring significant manual effort for analysis and validation. Existing AI tools are largely reactive and lack autonomous planning, verification, and long-term memory, limiting their effectiveness for sustained research”.</a:t>
            </a:r>
            <a:endParaRPr sz="3500" dirty="0">
              <a:latin typeface="Cambria" pitchFamily="18" charset="0"/>
              <a:ea typeface="Cambria" pitchFamily="18" charset="0"/>
              <a:cs typeface="Cambria"/>
            </a:endParaRPr>
          </a:p>
        </p:txBody>
      </p:sp>
      <p:pic>
        <p:nvPicPr>
          <p:cNvPr id="4" name="object 4"/>
          <p:cNvPicPr/>
          <p:nvPr/>
        </p:nvPicPr>
        <p:blipFill>
          <a:blip r:embed="rId3" cstate="print"/>
          <a:stretch>
            <a:fillRect/>
          </a:stretch>
        </p:blipFill>
        <p:spPr>
          <a:xfrm>
            <a:off x="4763" y="5108715"/>
            <a:ext cx="18283236" cy="4321035"/>
          </a:xfrm>
          <a:prstGeom prst="rect">
            <a:avLst/>
          </a:prstGeom>
        </p:spPr>
      </p:pic>
      <p:sp>
        <p:nvSpPr>
          <p:cNvPr id="5" name="object 5"/>
          <p:cNvSpPr txBox="1">
            <a:spLocks noGrp="1"/>
          </p:cNvSpPr>
          <p:nvPr>
            <p:ph type="ftr" sz="quarter" idx="5"/>
          </p:nvPr>
        </p:nvSpPr>
        <p:spPr>
          <a:xfrm>
            <a:off x="7849616" y="9709005"/>
            <a:ext cx="3434079" cy="223779"/>
          </a:xfrm>
          <a:prstGeom prst="rect">
            <a:avLst/>
          </a:prstGeom>
        </p:spPr>
        <p:txBody>
          <a:bodyPr vert="horz" wrap="square" lIns="0" tIns="8255" rIns="0" bIns="0" rtlCol="0">
            <a:spAutoFit/>
          </a:bodyPr>
          <a:lstStyle/>
          <a:p>
            <a:pPr marL="12700">
              <a:lnSpc>
                <a:spcPct val="100000"/>
              </a:lnSpc>
              <a:spcBef>
                <a:spcPts val="65"/>
              </a:spcBef>
            </a:pPr>
            <a:r>
              <a:rPr dirty="0">
                <a:solidFill>
                  <a:schemeClr val="tx1"/>
                </a:solidFill>
              </a:rPr>
              <a:t>Department</a:t>
            </a:r>
            <a:r>
              <a:rPr spc="125" dirty="0">
                <a:solidFill>
                  <a:schemeClr val="tx1"/>
                </a:solidFill>
              </a:rPr>
              <a:t> </a:t>
            </a:r>
            <a:r>
              <a:rPr dirty="0">
                <a:solidFill>
                  <a:schemeClr val="tx1"/>
                </a:solidFill>
              </a:rPr>
              <a:t>of</a:t>
            </a:r>
            <a:r>
              <a:rPr spc="114" dirty="0">
                <a:solidFill>
                  <a:schemeClr val="tx1"/>
                </a:solidFill>
              </a:rPr>
              <a:t> </a:t>
            </a:r>
            <a:r>
              <a:rPr spc="70" dirty="0">
                <a:solidFill>
                  <a:schemeClr val="tx1"/>
                </a:solidFill>
              </a:rPr>
              <a:t>CSE(AI&amp;ML),</a:t>
            </a:r>
            <a:r>
              <a:rPr spc="75" dirty="0">
                <a:solidFill>
                  <a:schemeClr val="tx1"/>
                </a:solidFill>
              </a:rPr>
              <a:t> </a:t>
            </a:r>
            <a:r>
              <a:rPr spc="114" dirty="0">
                <a:solidFill>
                  <a:schemeClr val="tx1"/>
                </a:solidFill>
              </a:rPr>
              <a:t>MCE,</a:t>
            </a:r>
            <a:r>
              <a:rPr spc="165" dirty="0">
                <a:solidFill>
                  <a:schemeClr val="tx1"/>
                </a:solidFill>
              </a:rPr>
              <a:t> </a:t>
            </a:r>
            <a:r>
              <a:rPr spc="-10" dirty="0">
                <a:solidFill>
                  <a:schemeClr val="tx1"/>
                </a:solidFill>
              </a:rPr>
              <a:t>Hassan</a:t>
            </a:r>
          </a:p>
        </p:txBody>
      </p:sp>
      <p:sp>
        <p:nvSpPr>
          <p:cNvPr id="7" name="object 7"/>
          <p:cNvSpPr txBox="1">
            <a:spLocks noGrp="1"/>
          </p:cNvSpPr>
          <p:nvPr>
            <p:ph type="sldNum" sz="quarter" idx="7"/>
          </p:nvPr>
        </p:nvSpPr>
        <p:spPr>
          <a:xfrm>
            <a:off x="17173956" y="9723745"/>
            <a:ext cx="504444" cy="374461"/>
          </a:xfrm>
          <a:prstGeom prst="rect">
            <a:avLst/>
          </a:prstGeom>
        </p:spPr>
        <p:txBody>
          <a:bodyPr vert="horz" wrap="square" lIns="0" tIns="5080" rIns="0" bIns="0" rtlCol="0">
            <a:spAutoFit/>
          </a:bodyPr>
          <a:lstStyle/>
          <a:p>
            <a:pPr marL="12700">
              <a:lnSpc>
                <a:spcPct val="100000"/>
              </a:lnSpc>
              <a:spcBef>
                <a:spcPts val="40"/>
              </a:spcBef>
            </a:pPr>
            <a:r>
              <a:rPr lang="en-US" spc="-25" dirty="0" smtClean="0">
                <a:solidFill>
                  <a:schemeClr val="tx1"/>
                </a:solidFill>
              </a:rPr>
              <a:t>3</a:t>
            </a:r>
          </a:p>
          <a:p>
            <a:pPr marL="12700">
              <a:lnSpc>
                <a:spcPct val="100000"/>
              </a:lnSpc>
              <a:spcBef>
                <a:spcPts val="40"/>
              </a:spcBef>
            </a:pPr>
            <a:endParaRPr spc="-25" dirty="0">
              <a:solidFill>
                <a:schemeClr val="tx1"/>
              </a:solidFill>
            </a:endParaRPr>
          </a:p>
        </p:txBody>
      </p:sp>
      <p:sp>
        <p:nvSpPr>
          <p:cNvPr id="8" name="AutoShape 5">
            <a:extLst>
              <a:ext uri="{FF2B5EF4-FFF2-40B4-BE49-F238E27FC236}">
                <a16:creationId xmlns:a16="http://schemas.microsoft.com/office/drawing/2014/main" xmlns="" id="{8AB9C852-F905-4D3B-9E7B-32B8290E658B}"/>
              </a:ext>
            </a:extLst>
          </p:cNvPr>
          <p:cNvSpPr/>
          <p:nvPr/>
        </p:nvSpPr>
        <p:spPr>
          <a:xfrm>
            <a:off x="0" y="9419765"/>
            <a:ext cx="18288000" cy="0"/>
          </a:xfrm>
          <a:prstGeom prst="line">
            <a:avLst/>
          </a:prstGeom>
          <a:ln w="9525" cap="flat">
            <a:solidFill>
              <a:srgbClr val="23593E"/>
            </a:solidFill>
            <a:prstDash val="solid"/>
            <a:headEnd type="none" w="sm" len="sm"/>
            <a:tailEnd type="none" w="sm" len="sm"/>
          </a:ln>
        </p:spPr>
      </p:sp>
      <p:sp>
        <p:nvSpPr>
          <p:cNvPr id="10" name="object 5">
            <a:extLst>
              <a:ext uri="{FF2B5EF4-FFF2-40B4-BE49-F238E27FC236}">
                <a16:creationId xmlns:a16="http://schemas.microsoft.com/office/drawing/2014/main" xmlns="" id="{C2249E06-19F0-4490-A7D9-60A55CDD11EE}"/>
              </a:ext>
            </a:extLst>
          </p:cNvPr>
          <p:cNvSpPr txBox="1">
            <a:spLocks noGrp="1"/>
          </p:cNvSpPr>
          <p:nvPr>
            <p:ph type="dt" sz="half" idx="6"/>
          </p:nvPr>
        </p:nvSpPr>
        <p:spPr>
          <a:xfrm>
            <a:off x="917575" y="9729254"/>
            <a:ext cx="864235" cy="223138"/>
          </a:xfrm>
          <a:prstGeom prst="rect">
            <a:avLst/>
          </a:prstGeom>
        </p:spPr>
        <p:txBody>
          <a:bodyPr vert="horz" wrap="square" lIns="0" tIns="7620" rIns="0" bIns="0" rtlCol="0">
            <a:spAutoFit/>
          </a:bodyPr>
          <a:lstStyle/>
          <a:p>
            <a:pPr marL="12700">
              <a:lnSpc>
                <a:spcPct val="100000"/>
              </a:lnSpc>
              <a:spcBef>
                <a:spcPts val="60"/>
              </a:spcBef>
            </a:pPr>
            <a:r>
              <a:rPr lang="en-US" spc="-10" dirty="0" smtClean="0">
                <a:solidFill>
                  <a:schemeClr val="tx1"/>
                </a:solidFill>
              </a:rPr>
              <a:t>31</a:t>
            </a:r>
            <a:r>
              <a:rPr spc="-10" dirty="0" smtClean="0">
                <a:solidFill>
                  <a:schemeClr val="tx1"/>
                </a:solidFill>
              </a:rPr>
              <a:t>-</a:t>
            </a:r>
            <a:r>
              <a:rPr lang="en-US" spc="-10" dirty="0">
                <a:solidFill>
                  <a:schemeClr val="tx1"/>
                </a:solidFill>
              </a:rPr>
              <a:t>12</a:t>
            </a:r>
            <a:r>
              <a:rPr spc="-10" dirty="0">
                <a:solidFill>
                  <a:schemeClr val="tx1"/>
                </a:solidFill>
              </a:rPr>
              <a:t>-</a:t>
            </a:r>
            <a:r>
              <a:rPr spc="-20" dirty="0">
                <a:solidFill>
                  <a:schemeClr val="tx1"/>
                </a:solidFill>
              </a:rPr>
              <a:t>2025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92950" y="517588"/>
            <a:ext cx="4453255" cy="941069"/>
          </a:xfrm>
          <a:prstGeom prst="rect">
            <a:avLst/>
          </a:prstGeom>
        </p:spPr>
        <p:txBody>
          <a:bodyPr vert="horz" wrap="square" lIns="0" tIns="13335" rIns="0" bIns="0" rtlCol="0">
            <a:spAutoFit/>
          </a:bodyPr>
          <a:lstStyle/>
          <a:p>
            <a:pPr marL="12700">
              <a:lnSpc>
                <a:spcPct val="100000"/>
              </a:lnSpc>
              <a:spcBef>
                <a:spcPts val="105"/>
              </a:spcBef>
            </a:pPr>
            <a:r>
              <a:rPr sz="6000" spc="-10" dirty="0" smtClean="0"/>
              <a:t>Objectives</a:t>
            </a:r>
            <a:endParaRPr sz="6000" dirty="0"/>
          </a:p>
        </p:txBody>
      </p:sp>
      <p:sp>
        <p:nvSpPr>
          <p:cNvPr id="3" name="object 3"/>
          <p:cNvSpPr txBox="1"/>
          <p:nvPr/>
        </p:nvSpPr>
        <p:spPr>
          <a:xfrm>
            <a:off x="1624330" y="2088325"/>
            <a:ext cx="8000365" cy="5206554"/>
          </a:xfrm>
          <a:prstGeom prst="rect">
            <a:avLst/>
          </a:prstGeom>
        </p:spPr>
        <p:txBody>
          <a:bodyPr vert="horz" wrap="square" lIns="0" tIns="248920" rIns="0" bIns="0" rtlCol="0">
            <a:spAutoFit/>
          </a:bodyPr>
          <a:lstStyle/>
          <a:p>
            <a:pPr marL="469900" indent="-457200">
              <a:lnSpc>
                <a:spcPct val="100000"/>
              </a:lnSpc>
              <a:spcBef>
                <a:spcPts val="1960"/>
              </a:spcBef>
              <a:buAutoNum type="arabicPeriod"/>
              <a:tabLst>
                <a:tab pos="469900" algn="l"/>
              </a:tabLst>
            </a:pPr>
            <a:r>
              <a:rPr lang="en-US" sz="3400" dirty="0" smtClean="0">
                <a:latin typeface="Cambria"/>
                <a:cs typeface="Cambria"/>
              </a:rPr>
              <a:t>Autonomously plans and executes research tasks</a:t>
            </a:r>
          </a:p>
          <a:p>
            <a:pPr marL="469900" indent="-457200">
              <a:lnSpc>
                <a:spcPct val="100000"/>
              </a:lnSpc>
              <a:spcBef>
                <a:spcPts val="1960"/>
              </a:spcBef>
              <a:buAutoNum type="arabicPeriod"/>
              <a:tabLst>
                <a:tab pos="469900" algn="l"/>
              </a:tabLst>
            </a:pPr>
            <a:r>
              <a:rPr lang="en-US" sz="3400" dirty="0" smtClean="0">
                <a:latin typeface="Cambria"/>
                <a:cs typeface="Cambria"/>
              </a:rPr>
              <a:t>Retrieves verified academic knowledge from trusted sources</a:t>
            </a:r>
          </a:p>
          <a:p>
            <a:pPr marL="469900" indent="-457200">
              <a:lnSpc>
                <a:spcPct val="100000"/>
              </a:lnSpc>
              <a:spcBef>
                <a:spcPts val="1960"/>
              </a:spcBef>
              <a:buAutoNum type="arabicPeriod"/>
              <a:tabLst>
                <a:tab pos="469900" algn="l"/>
              </a:tabLst>
            </a:pPr>
            <a:r>
              <a:rPr lang="en-US" sz="3400" dirty="0" smtClean="0">
                <a:latin typeface="Cambria"/>
                <a:cs typeface="Cambria"/>
              </a:rPr>
              <a:t>Performs structured analysis and validation</a:t>
            </a:r>
          </a:p>
          <a:p>
            <a:pPr marL="469900" indent="-457200">
              <a:lnSpc>
                <a:spcPct val="100000"/>
              </a:lnSpc>
              <a:spcBef>
                <a:spcPts val="1960"/>
              </a:spcBef>
              <a:buAutoNum type="arabicPeriod"/>
              <a:tabLst>
                <a:tab pos="469900" algn="l"/>
              </a:tabLst>
            </a:pPr>
            <a:r>
              <a:rPr lang="en-US" sz="3400" dirty="0" smtClean="0">
                <a:latin typeface="Cambria"/>
                <a:cs typeface="Cambria"/>
              </a:rPr>
              <a:t>Retains high-quality research insights for future reuse</a:t>
            </a:r>
            <a:endParaRPr sz="3400" dirty="0" smtClean="0">
              <a:latin typeface="Cambria"/>
              <a:cs typeface="Cambria"/>
            </a:endParaRPr>
          </a:p>
        </p:txBody>
      </p:sp>
      <p:sp>
        <p:nvSpPr>
          <p:cNvPr id="5" name="object 5"/>
          <p:cNvSpPr txBox="1">
            <a:spLocks noGrp="1"/>
          </p:cNvSpPr>
          <p:nvPr>
            <p:ph type="ftr" sz="quarter" idx="5"/>
          </p:nvPr>
        </p:nvSpPr>
        <p:spPr>
          <a:xfrm>
            <a:off x="7849616" y="9709005"/>
            <a:ext cx="3434079" cy="223779"/>
          </a:xfrm>
          <a:prstGeom prst="rect">
            <a:avLst/>
          </a:prstGeom>
        </p:spPr>
        <p:txBody>
          <a:bodyPr vert="horz" wrap="square" lIns="0" tIns="8255" rIns="0" bIns="0" rtlCol="0">
            <a:spAutoFit/>
          </a:bodyPr>
          <a:lstStyle/>
          <a:p>
            <a:pPr marL="12700">
              <a:lnSpc>
                <a:spcPct val="100000"/>
              </a:lnSpc>
              <a:spcBef>
                <a:spcPts val="65"/>
              </a:spcBef>
            </a:pPr>
            <a:r>
              <a:rPr dirty="0">
                <a:solidFill>
                  <a:schemeClr val="tx1"/>
                </a:solidFill>
              </a:rPr>
              <a:t>Department</a:t>
            </a:r>
            <a:r>
              <a:rPr spc="125" dirty="0">
                <a:solidFill>
                  <a:schemeClr val="tx1"/>
                </a:solidFill>
              </a:rPr>
              <a:t> </a:t>
            </a:r>
            <a:r>
              <a:rPr dirty="0">
                <a:solidFill>
                  <a:schemeClr val="tx1"/>
                </a:solidFill>
              </a:rPr>
              <a:t>of</a:t>
            </a:r>
            <a:r>
              <a:rPr spc="114" dirty="0">
                <a:solidFill>
                  <a:schemeClr val="tx1"/>
                </a:solidFill>
              </a:rPr>
              <a:t> </a:t>
            </a:r>
            <a:r>
              <a:rPr spc="70" dirty="0">
                <a:solidFill>
                  <a:schemeClr val="tx1"/>
                </a:solidFill>
              </a:rPr>
              <a:t>CSE(AI&amp;ML),</a:t>
            </a:r>
            <a:r>
              <a:rPr spc="75" dirty="0">
                <a:solidFill>
                  <a:schemeClr val="tx1"/>
                </a:solidFill>
              </a:rPr>
              <a:t> </a:t>
            </a:r>
            <a:r>
              <a:rPr spc="114" dirty="0">
                <a:solidFill>
                  <a:schemeClr val="tx1"/>
                </a:solidFill>
              </a:rPr>
              <a:t>MCE,</a:t>
            </a:r>
            <a:r>
              <a:rPr spc="165" dirty="0">
                <a:solidFill>
                  <a:schemeClr val="tx1"/>
                </a:solidFill>
              </a:rPr>
              <a:t> </a:t>
            </a:r>
            <a:r>
              <a:rPr spc="-10" dirty="0">
                <a:solidFill>
                  <a:schemeClr val="tx1"/>
                </a:solidFill>
              </a:rPr>
              <a:t>Hassan</a:t>
            </a:r>
          </a:p>
        </p:txBody>
      </p:sp>
      <p:sp>
        <p:nvSpPr>
          <p:cNvPr id="7" name="object 7"/>
          <p:cNvSpPr txBox="1">
            <a:spLocks noGrp="1"/>
          </p:cNvSpPr>
          <p:nvPr>
            <p:ph type="sldNum" sz="quarter" idx="7"/>
          </p:nvPr>
        </p:nvSpPr>
        <p:spPr>
          <a:xfrm>
            <a:off x="17173956" y="9723745"/>
            <a:ext cx="215900" cy="374461"/>
          </a:xfrm>
          <a:prstGeom prst="rect">
            <a:avLst/>
          </a:prstGeom>
        </p:spPr>
        <p:txBody>
          <a:bodyPr vert="horz" wrap="square" lIns="0" tIns="5080" rIns="0" bIns="0" rtlCol="0">
            <a:spAutoFit/>
          </a:bodyPr>
          <a:lstStyle/>
          <a:p>
            <a:pPr marL="12700">
              <a:lnSpc>
                <a:spcPct val="100000"/>
              </a:lnSpc>
              <a:spcBef>
                <a:spcPts val="40"/>
              </a:spcBef>
            </a:pPr>
            <a:r>
              <a:rPr lang="en-US" spc="-25" dirty="0" smtClean="0">
                <a:solidFill>
                  <a:schemeClr val="tx1"/>
                </a:solidFill>
              </a:rPr>
              <a:t>4</a:t>
            </a:r>
          </a:p>
          <a:p>
            <a:pPr marL="12700">
              <a:lnSpc>
                <a:spcPct val="100000"/>
              </a:lnSpc>
              <a:spcBef>
                <a:spcPts val="40"/>
              </a:spcBef>
            </a:pPr>
            <a:endParaRPr spc="-25" dirty="0">
              <a:solidFill>
                <a:schemeClr val="tx1"/>
              </a:solidFill>
            </a:endParaRPr>
          </a:p>
        </p:txBody>
      </p:sp>
      <p:sp>
        <p:nvSpPr>
          <p:cNvPr id="8" name="AutoShape 5">
            <a:extLst>
              <a:ext uri="{FF2B5EF4-FFF2-40B4-BE49-F238E27FC236}">
                <a16:creationId xmlns:a16="http://schemas.microsoft.com/office/drawing/2014/main" xmlns="" id="{DDE697C9-4A64-4BBD-A1EC-AF235268C5CC}"/>
              </a:ext>
            </a:extLst>
          </p:cNvPr>
          <p:cNvSpPr/>
          <p:nvPr/>
        </p:nvSpPr>
        <p:spPr>
          <a:xfrm>
            <a:off x="0" y="9419765"/>
            <a:ext cx="18288000" cy="0"/>
          </a:xfrm>
          <a:prstGeom prst="line">
            <a:avLst/>
          </a:prstGeom>
          <a:ln w="9525" cap="flat">
            <a:solidFill>
              <a:srgbClr val="23593E"/>
            </a:solidFill>
            <a:prstDash val="solid"/>
            <a:headEnd type="none" w="sm" len="sm"/>
            <a:tailEnd type="none" w="sm" len="sm"/>
          </a:ln>
        </p:spPr>
      </p:sp>
      <p:sp>
        <p:nvSpPr>
          <p:cNvPr id="10" name="object 5">
            <a:extLst>
              <a:ext uri="{FF2B5EF4-FFF2-40B4-BE49-F238E27FC236}">
                <a16:creationId xmlns:a16="http://schemas.microsoft.com/office/drawing/2014/main" xmlns="" id="{508BCD2B-274C-44B5-8630-C5FBC35A178B}"/>
              </a:ext>
            </a:extLst>
          </p:cNvPr>
          <p:cNvSpPr txBox="1">
            <a:spLocks noGrp="1"/>
          </p:cNvSpPr>
          <p:nvPr>
            <p:ph type="dt" sz="half" idx="6"/>
          </p:nvPr>
        </p:nvSpPr>
        <p:spPr>
          <a:xfrm>
            <a:off x="917575" y="9729254"/>
            <a:ext cx="864235" cy="223138"/>
          </a:xfrm>
          <a:prstGeom prst="rect">
            <a:avLst/>
          </a:prstGeom>
        </p:spPr>
        <p:txBody>
          <a:bodyPr vert="horz" wrap="square" lIns="0" tIns="7620" rIns="0" bIns="0" rtlCol="0">
            <a:spAutoFit/>
          </a:bodyPr>
          <a:lstStyle/>
          <a:p>
            <a:pPr marL="12700">
              <a:lnSpc>
                <a:spcPct val="100000"/>
              </a:lnSpc>
              <a:spcBef>
                <a:spcPts val="60"/>
              </a:spcBef>
            </a:pPr>
            <a:r>
              <a:rPr lang="en-US" spc="-10" dirty="0" smtClean="0">
                <a:solidFill>
                  <a:schemeClr val="tx1"/>
                </a:solidFill>
              </a:rPr>
              <a:t>31</a:t>
            </a:r>
            <a:r>
              <a:rPr spc="-10" dirty="0" smtClean="0">
                <a:solidFill>
                  <a:schemeClr val="tx1"/>
                </a:solidFill>
              </a:rPr>
              <a:t>-</a:t>
            </a:r>
            <a:r>
              <a:rPr lang="en-US" spc="-10" dirty="0">
                <a:solidFill>
                  <a:schemeClr val="tx1"/>
                </a:solidFill>
              </a:rPr>
              <a:t>12</a:t>
            </a:r>
            <a:r>
              <a:rPr spc="-10" dirty="0">
                <a:solidFill>
                  <a:schemeClr val="tx1"/>
                </a:solidFill>
              </a:rPr>
              <a:t>-</a:t>
            </a:r>
            <a:r>
              <a:rPr spc="-20" dirty="0">
                <a:solidFill>
                  <a:schemeClr val="tx1"/>
                </a:solidFill>
              </a:rPr>
              <a:t>2025</a:t>
            </a:r>
          </a:p>
        </p:txBody>
      </p:sp>
      <p:pic>
        <p:nvPicPr>
          <p:cNvPr id="2050" name="Picture 2" descr="197,800+ Research Paper Stock Photos, Pictures &amp; Royalty-Free Images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9400" y="2171700"/>
            <a:ext cx="7200898" cy="5943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90600" y="2310006"/>
            <a:ext cx="9067799" cy="5261697"/>
          </a:xfrm>
          <a:prstGeom prst="rect">
            <a:avLst/>
          </a:prstGeom>
        </p:spPr>
        <p:txBody>
          <a:bodyPr vert="horz" wrap="square" lIns="0" tIns="16510" rIns="0" bIns="0" rtlCol="0">
            <a:spAutoFit/>
          </a:bodyPr>
          <a:lstStyle/>
          <a:p>
            <a:pPr marL="12700">
              <a:lnSpc>
                <a:spcPct val="100000"/>
              </a:lnSpc>
              <a:spcBef>
                <a:spcPts val="130"/>
              </a:spcBef>
            </a:pPr>
            <a:r>
              <a:rPr lang="en-US" sz="3950" b="1" dirty="0" smtClean="0">
                <a:solidFill>
                  <a:srgbClr val="622422"/>
                </a:solidFill>
                <a:latin typeface="Palatino Linotype"/>
                <a:cs typeface="Palatino Linotype"/>
              </a:rPr>
              <a:t>AURORA </a:t>
            </a:r>
            <a:r>
              <a:rPr lang="en-US" sz="2800" dirty="0" smtClean="0">
                <a:solidFill>
                  <a:srgbClr val="622422"/>
                </a:solidFill>
                <a:latin typeface="Palatino Linotype"/>
                <a:cs typeface="Palatino Linotype"/>
              </a:rPr>
              <a:t>follows a multi-agent design, where:</a:t>
            </a:r>
          </a:p>
          <a:p>
            <a:pPr marL="12700">
              <a:lnSpc>
                <a:spcPct val="100000"/>
              </a:lnSpc>
              <a:spcBef>
                <a:spcPts val="130"/>
              </a:spcBef>
            </a:pPr>
            <a:endParaRPr lang="en-US" sz="2800" b="1" dirty="0" smtClean="0">
              <a:solidFill>
                <a:srgbClr val="622422"/>
              </a:solidFill>
              <a:latin typeface="Cambria" pitchFamily="18" charset="0"/>
              <a:ea typeface="Cambria" pitchFamily="18" charset="0"/>
              <a:cs typeface="Palatino Linotype"/>
            </a:endParaRPr>
          </a:p>
          <a:p>
            <a:pPr marL="755650" indent="-742950">
              <a:lnSpc>
                <a:spcPct val="100000"/>
              </a:lnSpc>
              <a:spcBef>
                <a:spcPts val="130"/>
              </a:spcBef>
              <a:buFont typeface="+mj-lt"/>
              <a:buAutoNum type="arabicPeriod"/>
            </a:pPr>
            <a:r>
              <a:rPr lang="en-US" sz="3400" dirty="0" smtClean="0">
                <a:solidFill>
                  <a:schemeClr val="tx1"/>
                </a:solidFill>
                <a:latin typeface="Cambria" pitchFamily="18" charset="0"/>
                <a:ea typeface="Cambria" pitchFamily="18" charset="0"/>
                <a:cs typeface="Palatino Linotype"/>
              </a:rPr>
              <a:t>Each agent has a clearly defined role</a:t>
            </a:r>
          </a:p>
          <a:p>
            <a:pPr marL="755650" indent="-742950">
              <a:lnSpc>
                <a:spcPct val="100000"/>
              </a:lnSpc>
              <a:spcBef>
                <a:spcPts val="130"/>
              </a:spcBef>
              <a:buFont typeface="+mj-lt"/>
              <a:buAutoNum type="arabicPeriod"/>
            </a:pPr>
            <a:r>
              <a:rPr lang="en-US" sz="3400" dirty="0" smtClean="0">
                <a:solidFill>
                  <a:schemeClr val="tx1"/>
                </a:solidFill>
                <a:latin typeface="Cambria" pitchFamily="18" charset="0"/>
                <a:ea typeface="Cambria" pitchFamily="18" charset="0"/>
                <a:cs typeface="Palatino Linotype"/>
              </a:rPr>
              <a:t>Agents operate sequentially with explicit state passing</a:t>
            </a:r>
          </a:p>
          <a:p>
            <a:pPr marL="755650" indent="-742950">
              <a:lnSpc>
                <a:spcPct val="100000"/>
              </a:lnSpc>
              <a:spcBef>
                <a:spcPts val="130"/>
              </a:spcBef>
              <a:buFont typeface="+mj-lt"/>
              <a:buAutoNum type="arabicPeriod"/>
            </a:pPr>
            <a:r>
              <a:rPr lang="en-US" sz="3400" dirty="0" smtClean="0">
                <a:solidFill>
                  <a:schemeClr val="tx1"/>
                </a:solidFill>
                <a:latin typeface="Cambria" pitchFamily="18" charset="0"/>
                <a:ea typeface="Cambria" pitchFamily="18" charset="0"/>
                <a:cs typeface="Palatino Linotype"/>
              </a:rPr>
              <a:t>Reasoning, verification, and memory are separated</a:t>
            </a:r>
          </a:p>
          <a:p>
            <a:pPr marL="755650" indent="-742950">
              <a:lnSpc>
                <a:spcPct val="100000"/>
              </a:lnSpc>
              <a:spcBef>
                <a:spcPts val="130"/>
              </a:spcBef>
              <a:buFont typeface="+mj-lt"/>
              <a:buAutoNum type="arabicPeriod"/>
            </a:pPr>
            <a:r>
              <a:rPr lang="en-US" sz="3400" dirty="0" smtClean="0">
                <a:solidFill>
                  <a:schemeClr val="tx1"/>
                </a:solidFill>
                <a:latin typeface="Cambria" pitchFamily="18" charset="0"/>
                <a:ea typeface="Cambria" pitchFamily="18" charset="0"/>
                <a:cs typeface="Palatino Linotype"/>
              </a:rPr>
              <a:t>Execution is deterministic and explainable</a:t>
            </a:r>
          </a:p>
          <a:p>
            <a:pPr marL="12700">
              <a:lnSpc>
                <a:spcPct val="100000"/>
              </a:lnSpc>
              <a:spcBef>
                <a:spcPts val="130"/>
              </a:spcBef>
            </a:pPr>
            <a:endParaRPr lang="en-US" sz="3950" dirty="0" smtClean="0">
              <a:solidFill>
                <a:schemeClr val="tx1"/>
              </a:solidFill>
              <a:latin typeface="Palatino Linotype"/>
              <a:cs typeface="Palatino Linotype"/>
            </a:endParaRPr>
          </a:p>
          <a:p>
            <a:pPr marL="12700">
              <a:lnSpc>
                <a:spcPct val="100000"/>
              </a:lnSpc>
              <a:spcBef>
                <a:spcPts val="130"/>
              </a:spcBef>
            </a:pPr>
            <a:r>
              <a:rPr lang="en-US" sz="2400" b="1" dirty="0" smtClean="0">
                <a:solidFill>
                  <a:srgbClr val="622422"/>
                </a:solidFill>
                <a:latin typeface="Cambria" pitchFamily="18" charset="0"/>
                <a:ea typeface="Cambria" pitchFamily="18" charset="0"/>
                <a:cs typeface="Palatino Linotype"/>
              </a:rPr>
              <a:t>This design improves modularity, reliability, and extensibility.</a:t>
            </a:r>
            <a:endParaRPr sz="1600" dirty="0">
              <a:latin typeface="Cambria" pitchFamily="18" charset="0"/>
              <a:ea typeface="Cambria" pitchFamily="18" charset="0"/>
              <a:cs typeface="Cambria"/>
            </a:endParaRPr>
          </a:p>
        </p:txBody>
      </p:sp>
      <p:sp>
        <p:nvSpPr>
          <p:cNvPr id="4" name="object 4"/>
          <p:cNvSpPr txBox="1">
            <a:spLocks noGrp="1"/>
          </p:cNvSpPr>
          <p:nvPr>
            <p:ph type="title"/>
          </p:nvPr>
        </p:nvSpPr>
        <p:spPr>
          <a:xfrm>
            <a:off x="4495800" y="571500"/>
            <a:ext cx="11561445" cy="1583126"/>
          </a:xfrm>
          <a:prstGeom prst="rect">
            <a:avLst/>
          </a:prstGeom>
        </p:spPr>
        <p:txBody>
          <a:bodyPr vert="horz" wrap="square" lIns="0" tIns="13335" rIns="0" bIns="0" rtlCol="0">
            <a:spAutoFit/>
          </a:bodyPr>
          <a:lstStyle/>
          <a:p>
            <a:pPr marL="12700">
              <a:lnSpc>
                <a:spcPct val="100000"/>
              </a:lnSpc>
              <a:spcBef>
                <a:spcPts val="105"/>
              </a:spcBef>
            </a:pPr>
            <a:r>
              <a:rPr lang="en-US" dirty="0"/>
              <a:t>Core Design of the System</a:t>
            </a:r>
            <a:r>
              <a:rPr lang="en-US" sz="4800" dirty="0"/>
              <a:t/>
            </a:r>
            <a:br>
              <a:rPr lang="en-US" sz="4800" dirty="0"/>
            </a:br>
            <a:endParaRPr sz="4800" dirty="0"/>
          </a:p>
        </p:txBody>
      </p:sp>
      <p:sp>
        <p:nvSpPr>
          <p:cNvPr id="5" name="object 5"/>
          <p:cNvSpPr txBox="1">
            <a:spLocks noGrp="1"/>
          </p:cNvSpPr>
          <p:nvPr>
            <p:ph type="ftr" sz="quarter" idx="5"/>
          </p:nvPr>
        </p:nvSpPr>
        <p:spPr>
          <a:xfrm>
            <a:off x="7849616" y="9709005"/>
            <a:ext cx="3434079" cy="223779"/>
          </a:xfrm>
          <a:prstGeom prst="rect">
            <a:avLst/>
          </a:prstGeom>
        </p:spPr>
        <p:txBody>
          <a:bodyPr vert="horz" wrap="square" lIns="0" tIns="8255" rIns="0" bIns="0" rtlCol="0">
            <a:spAutoFit/>
          </a:bodyPr>
          <a:lstStyle/>
          <a:p>
            <a:pPr marL="12700">
              <a:lnSpc>
                <a:spcPct val="100000"/>
              </a:lnSpc>
              <a:spcBef>
                <a:spcPts val="65"/>
              </a:spcBef>
            </a:pPr>
            <a:r>
              <a:rPr dirty="0">
                <a:solidFill>
                  <a:schemeClr val="tx1"/>
                </a:solidFill>
              </a:rPr>
              <a:t>Department</a:t>
            </a:r>
            <a:r>
              <a:rPr spc="125" dirty="0">
                <a:solidFill>
                  <a:schemeClr val="tx1"/>
                </a:solidFill>
              </a:rPr>
              <a:t> </a:t>
            </a:r>
            <a:r>
              <a:rPr dirty="0">
                <a:solidFill>
                  <a:schemeClr val="tx1"/>
                </a:solidFill>
              </a:rPr>
              <a:t>of</a:t>
            </a:r>
            <a:r>
              <a:rPr spc="114" dirty="0">
                <a:solidFill>
                  <a:schemeClr val="tx1"/>
                </a:solidFill>
              </a:rPr>
              <a:t> </a:t>
            </a:r>
            <a:r>
              <a:rPr spc="70" dirty="0">
                <a:solidFill>
                  <a:schemeClr val="tx1"/>
                </a:solidFill>
              </a:rPr>
              <a:t>CSE(AI&amp;ML),</a:t>
            </a:r>
            <a:r>
              <a:rPr spc="75" dirty="0">
                <a:solidFill>
                  <a:schemeClr val="tx1"/>
                </a:solidFill>
              </a:rPr>
              <a:t> </a:t>
            </a:r>
            <a:r>
              <a:rPr spc="114" dirty="0">
                <a:solidFill>
                  <a:schemeClr val="tx1"/>
                </a:solidFill>
              </a:rPr>
              <a:t>MCE,</a:t>
            </a:r>
            <a:r>
              <a:rPr spc="165" dirty="0">
                <a:solidFill>
                  <a:schemeClr val="tx1"/>
                </a:solidFill>
              </a:rPr>
              <a:t> </a:t>
            </a:r>
            <a:r>
              <a:rPr spc="-10" dirty="0">
                <a:solidFill>
                  <a:schemeClr val="tx1"/>
                </a:solidFill>
              </a:rPr>
              <a:t>Hassan</a:t>
            </a:r>
          </a:p>
        </p:txBody>
      </p:sp>
      <p:sp>
        <p:nvSpPr>
          <p:cNvPr id="7" name="object 7"/>
          <p:cNvSpPr txBox="1">
            <a:spLocks noGrp="1"/>
          </p:cNvSpPr>
          <p:nvPr>
            <p:ph type="sldNum" sz="quarter" idx="7"/>
          </p:nvPr>
        </p:nvSpPr>
        <p:spPr>
          <a:xfrm>
            <a:off x="17173956" y="9723745"/>
            <a:ext cx="215900" cy="374461"/>
          </a:xfrm>
          <a:prstGeom prst="rect">
            <a:avLst/>
          </a:prstGeom>
        </p:spPr>
        <p:txBody>
          <a:bodyPr vert="horz" wrap="square" lIns="0" tIns="5080" rIns="0" bIns="0" rtlCol="0">
            <a:spAutoFit/>
          </a:bodyPr>
          <a:lstStyle/>
          <a:p>
            <a:pPr marL="12700">
              <a:lnSpc>
                <a:spcPct val="100000"/>
              </a:lnSpc>
              <a:spcBef>
                <a:spcPts val="40"/>
              </a:spcBef>
            </a:pPr>
            <a:r>
              <a:rPr lang="en-US" spc="-25" dirty="0">
                <a:solidFill>
                  <a:schemeClr val="tx1"/>
                </a:solidFill>
              </a:rPr>
              <a:t>5</a:t>
            </a:r>
            <a:endParaRPr lang="en-US" spc="-25" dirty="0">
              <a:solidFill>
                <a:schemeClr val="tx1"/>
              </a:solidFill>
            </a:endParaRPr>
          </a:p>
          <a:p>
            <a:pPr marL="12700">
              <a:lnSpc>
                <a:spcPct val="100000"/>
              </a:lnSpc>
              <a:spcBef>
                <a:spcPts val="40"/>
              </a:spcBef>
            </a:pPr>
            <a:endParaRPr spc="-25" dirty="0">
              <a:solidFill>
                <a:schemeClr val="tx1"/>
              </a:solidFill>
            </a:endParaRPr>
          </a:p>
        </p:txBody>
      </p:sp>
      <p:sp>
        <p:nvSpPr>
          <p:cNvPr id="8" name="AutoShape 5">
            <a:extLst>
              <a:ext uri="{FF2B5EF4-FFF2-40B4-BE49-F238E27FC236}">
                <a16:creationId xmlns:a16="http://schemas.microsoft.com/office/drawing/2014/main" xmlns="" id="{0E451B11-9CE5-4094-B738-B4E2F691F5E6}"/>
              </a:ext>
            </a:extLst>
          </p:cNvPr>
          <p:cNvSpPr/>
          <p:nvPr/>
        </p:nvSpPr>
        <p:spPr>
          <a:xfrm>
            <a:off x="0" y="9419765"/>
            <a:ext cx="18288000" cy="0"/>
          </a:xfrm>
          <a:prstGeom prst="line">
            <a:avLst/>
          </a:prstGeom>
          <a:ln w="9525" cap="flat">
            <a:solidFill>
              <a:srgbClr val="23593E"/>
            </a:solidFill>
            <a:prstDash val="solid"/>
            <a:headEnd type="none" w="sm" len="sm"/>
            <a:tailEnd type="none" w="sm" len="sm"/>
          </a:ln>
        </p:spPr>
      </p:sp>
      <p:sp>
        <p:nvSpPr>
          <p:cNvPr id="10" name="object 5">
            <a:extLst>
              <a:ext uri="{FF2B5EF4-FFF2-40B4-BE49-F238E27FC236}">
                <a16:creationId xmlns:a16="http://schemas.microsoft.com/office/drawing/2014/main" xmlns="" id="{2123889A-E908-4B63-B910-893F47F79FE3}"/>
              </a:ext>
            </a:extLst>
          </p:cNvPr>
          <p:cNvSpPr txBox="1">
            <a:spLocks noGrp="1"/>
          </p:cNvSpPr>
          <p:nvPr>
            <p:ph type="dt" sz="half" idx="6"/>
          </p:nvPr>
        </p:nvSpPr>
        <p:spPr>
          <a:xfrm>
            <a:off x="917575" y="9729254"/>
            <a:ext cx="864235" cy="223138"/>
          </a:xfrm>
          <a:prstGeom prst="rect">
            <a:avLst/>
          </a:prstGeom>
        </p:spPr>
        <p:txBody>
          <a:bodyPr vert="horz" wrap="square" lIns="0" tIns="7620" rIns="0" bIns="0" rtlCol="0">
            <a:spAutoFit/>
          </a:bodyPr>
          <a:lstStyle/>
          <a:p>
            <a:pPr marL="12700">
              <a:lnSpc>
                <a:spcPct val="100000"/>
              </a:lnSpc>
              <a:spcBef>
                <a:spcPts val="60"/>
              </a:spcBef>
            </a:pPr>
            <a:r>
              <a:rPr lang="en-US" spc="-10" dirty="0" smtClean="0">
                <a:solidFill>
                  <a:schemeClr val="tx1"/>
                </a:solidFill>
              </a:rPr>
              <a:t>31</a:t>
            </a:r>
            <a:r>
              <a:rPr spc="-10" dirty="0" smtClean="0">
                <a:solidFill>
                  <a:schemeClr val="tx1"/>
                </a:solidFill>
              </a:rPr>
              <a:t>-</a:t>
            </a:r>
            <a:r>
              <a:rPr lang="en-US" spc="-10" dirty="0">
                <a:solidFill>
                  <a:schemeClr val="tx1"/>
                </a:solidFill>
              </a:rPr>
              <a:t>12</a:t>
            </a:r>
            <a:r>
              <a:rPr spc="-10" dirty="0">
                <a:solidFill>
                  <a:schemeClr val="tx1"/>
                </a:solidFill>
              </a:rPr>
              <a:t>-</a:t>
            </a:r>
            <a:r>
              <a:rPr spc="-20" dirty="0">
                <a:solidFill>
                  <a:schemeClr val="tx1"/>
                </a:solidFill>
              </a:rPr>
              <a:t>2025</a:t>
            </a:r>
          </a:p>
        </p:txBody>
      </p:sp>
      <p:sp>
        <p:nvSpPr>
          <p:cNvPr id="6" name="AutoShape 4" descr="Adobe Research advances Agentic A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0" y="2171700"/>
            <a:ext cx="6096000"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800100"/>
            <a:ext cx="11558270" cy="844462"/>
          </a:xfrm>
          <a:prstGeom prst="rect">
            <a:avLst/>
          </a:prstGeom>
        </p:spPr>
        <p:txBody>
          <a:bodyPr vert="horz" wrap="square" lIns="0" tIns="13335" rIns="0" bIns="0" rtlCol="0">
            <a:spAutoFit/>
          </a:bodyPr>
          <a:lstStyle/>
          <a:p>
            <a:pPr marL="12700">
              <a:lnSpc>
                <a:spcPct val="100000"/>
              </a:lnSpc>
              <a:spcBef>
                <a:spcPts val="105"/>
              </a:spcBef>
            </a:pPr>
            <a:r>
              <a:rPr lang="en-IN" dirty="0"/>
              <a:t>System Architecture</a:t>
            </a:r>
            <a:endParaRPr dirty="0"/>
          </a:p>
        </p:txBody>
      </p:sp>
      <p:sp>
        <p:nvSpPr>
          <p:cNvPr id="3" name="object 3"/>
          <p:cNvSpPr txBox="1"/>
          <p:nvPr/>
        </p:nvSpPr>
        <p:spPr>
          <a:xfrm>
            <a:off x="1371600" y="1890331"/>
            <a:ext cx="10210800" cy="6168355"/>
          </a:xfrm>
          <a:prstGeom prst="rect">
            <a:avLst/>
          </a:prstGeom>
        </p:spPr>
        <p:txBody>
          <a:bodyPr vert="horz" wrap="square" lIns="0" tIns="12700" rIns="0" bIns="0" rtlCol="0">
            <a:spAutoFit/>
          </a:bodyPr>
          <a:lstStyle/>
          <a:p>
            <a:pPr marL="12700">
              <a:lnSpc>
                <a:spcPct val="100000"/>
              </a:lnSpc>
              <a:spcBef>
                <a:spcPts val="100"/>
              </a:spcBef>
            </a:pPr>
            <a:endParaRPr sz="3600" dirty="0">
              <a:latin typeface="Palatino Linotype"/>
              <a:cs typeface="Palatino Linotype"/>
            </a:endParaRPr>
          </a:p>
          <a:p>
            <a:r>
              <a:rPr lang="en-IN" sz="2800" dirty="0" smtClean="0">
                <a:latin typeface="Cambria" pitchFamily="18" charset="0"/>
                <a:ea typeface="Cambria" pitchFamily="18" charset="0"/>
              </a:rPr>
              <a:t>The system follows a linear agent pipeline:</a:t>
            </a:r>
          </a:p>
          <a:p>
            <a:endParaRPr lang="en-IN" sz="2800" dirty="0" smtClean="0">
              <a:latin typeface="Cambria" pitchFamily="18" charset="0"/>
              <a:ea typeface="Cambria" pitchFamily="18" charset="0"/>
            </a:endParaRPr>
          </a:p>
          <a:p>
            <a:r>
              <a:rPr lang="en-IN" sz="3400" b="1" dirty="0" smtClean="0">
                <a:solidFill>
                  <a:schemeClr val="accent2"/>
                </a:solidFill>
                <a:latin typeface="Cambria" pitchFamily="18" charset="0"/>
                <a:ea typeface="Cambria" pitchFamily="18" charset="0"/>
              </a:rPr>
              <a:t>Planner → Researcher → </a:t>
            </a:r>
            <a:r>
              <a:rPr lang="en-IN" sz="3400" b="1" dirty="0" err="1" smtClean="0">
                <a:solidFill>
                  <a:schemeClr val="accent2"/>
                </a:solidFill>
                <a:latin typeface="Cambria" pitchFamily="18" charset="0"/>
                <a:ea typeface="Cambria" pitchFamily="18" charset="0"/>
              </a:rPr>
              <a:t>Analyzer</a:t>
            </a:r>
            <a:r>
              <a:rPr lang="en-IN" sz="3400" b="1" dirty="0" smtClean="0">
                <a:solidFill>
                  <a:schemeClr val="accent2"/>
                </a:solidFill>
                <a:latin typeface="Cambria" pitchFamily="18" charset="0"/>
                <a:ea typeface="Cambria" pitchFamily="18" charset="0"/>
              </a:rPr>
              <a:t> → Verifier → Reflector</a:t>
            </a:r>
          </a:p>
          <a:p>
            <a:endParaRPr lang="en-IN" sz="2800" dirty="0" smtClean="0">
              <a:latin typeface="Cambria" pitchFamily="18" charset="0"/>
              <a:ea typeface="Cambria" pitchFamily="18" charset="0"/>
            </a:endParaRPr>
          </a:p>
          <a:p>
            <a:pPr marL="514350" indent="-514350">
              <a:buFont typeface="+mj-lt"/>
              <a:buAutoNum type="arabicPeriod"/>
            </a:pPr>
            <a:r>
              <a:rPr lang="en-IN" sz="3200" dirty="0" smtClean="0">
                <a:latin typeface="Cambria" pitchFamily="18" charset="0"/>
                <a:ea typeface="Cambria" pitchFamily="18" charset="0"/>
              </a:rPr>
              <a:t>Orchestrated using </a:t>
            </a:r>
            <a:r>
              <a:rPr lang="en-IN" sz="3200" dirty="0" err="1" smtClean="0">
                <a:latin typeface="Cambria" pitchFamily="18" charset="0"/>
                <a:ea typeface="Cambria" pitchFamily="18" charset="0"/>
              </a:rPr>
              <a:t>LangGraph</a:t>
            </a:r>
            <a:endParaRPr lang="en-IN" sz="3200" dirty="0" smtClean="0">
              <a:latin typeface="Cambria" pitchFamily="18" charset="0"/>
              <a:ea typeface="Cambria" pitchFamily="18" charset="0"/>
            </a:endParaRPr>
          </a:p>
          <a:p>
            <a:pPr marL="514350" indent="-514350">
              <a:buFont typeface="+mj-lt"/>
              <a:buAutoNum type="arabicPeriod"/>
            </a:pPr>
            <a:r>
              <a:rPr lang="en-IN" sz="3200" dirty="0" smtClean="0">
                <a:latin typeface="Cambria" pitchFamily="18" charset="0"/>
                <a:ea typeface="Cambria" pitchFamily="18" charset="0"/>
              </a:rPr>
              <a:t>External academic data retrieved from </a:t>
            </a:r>
            <a:r>
              <a:rPr lang="en-IN" sz="3200" dirty="0" err="1" smtClean="0">
                <a:latin typeface="Cambria" pitchFamily="18" charset="0"/>
                <a:ea typeface="Cambria" pitchFamily="18" charset="0"/>
              </a:rPr>
              <a:t>arXiv</a:t>
            </a:r>
            <a:endParaRPr lang="en-IN" sz="3200" dirty="0" smtClean="0">
              <a:latin typeface="Cambria" pitchFamily="18" charset="0"/>
              <a:ea typeface="Cambria" pitchFamily="18" charset="0"/>
            </a:endParaRPr>
          </a:p>
          <a:p>
            <a:pPr marL="514350" indent="-514350">
              <a:buFont typeface="+mj-lt"/>
              <a:buAutoNum type="arabicPeriod"/>
            </a:pPr>
            <a:r>
              <a:rPr lang="en-IN" sz="3200" dirty="0" smtClean="0">
                <a:latin typeface="Cambria" pitchFamily="18" charset="0"/>
                <a:ea typeface="Cambria" pitchFamily="18" charset="0"/>
              </a:rPr>
              <a:t>Long-term memory implemented using a vector database</a:t>
            </a:r>
          </a:p>
          <a:p>
            <a:endParaRPr lang="en-IN" sz="2800" b="1" dirty="0" smtClean="0">
              <a:latin typeface="Cambria" pitchFamily="18" charset="0"/>
              <a:ea typeface="Cambria" pitchFamily="18" charset="0"/>
            </a:endParaRPr>
          </a:p>
          <a:p>
            <a:r>
              <a:rPr lang="en-IN" sz="2800" b="1" dirty="0" smtClean="0">
                <a:solidFill>
                  <a:schemeClr val="accent2">
                    <a:lumMod val="50000"/>
                  </a:schemeClr>
                </a:solidFill>
                <a:latin typeface="Cambria" pitchFamily="18" charset="0"/>
                <a:ea typeface="Cambria" pitchFamily="18" charset="0"/>
              </a:rPr>
              <a:t>This architecture ensures controlled and transparent execution</a:t>
            </a:r>
            <a:r>
              <a:rPr lang="en-IN" sz="2800" dirty="0" smtClean="0">
                <a:solidFill>
                  <a:schemeClr val="accent2">
                    <a:lumMod val="50000"/>
                  </a:schemeClr>
                </a:solidFill>
              </a:rPr>
              <a:t>.</a:t>
            </a:r>
            <a:endParaRPr lang="en-IN" sz="2800" dirty="0">
              <a:solidFill>
                <a:schemeClr val="accent2">
                  <a:lumMod val="50000"/>
                </a:schemeClr>
              </a:solidFill>
            </a:endParaRPr>
          </a:p>
        </p:txBody>
      </p:sp>
      <p:sp>
        <p:nvSpPr>
          <p:cNvPr id="5" name="object 5"/>
          <p:cNvSpPr txBox="1">
            <a:spLocks noGrp="1"/>
          </p:cNvSpPr>
          <p:nvPr>
            <p:ph type="ftr" sz="quarter" idx="5"/>
          </p:nvPr>
        </p:nvSpPr>
        <p:spPr>
          <a:xfrm>
            <a:off x="7849616" y="9709005"/>
            <a:ext cx="3434079" cy="223779"/>
          </a:xfrm>
          <a:prstGeom prst="rect">
            <a:avLst/>
          </a:prstGeom>
        </p:spPr>
        <p:txBody>
          <a:bodyPr vert="horz" wrap="square" lIns="0" tIns="8255" rIns="0" bIns="0" rtlCol="0">
            <a:spAutoFit/>
          </a:bodyPr>
          <a:lstStyle/>
          <a:p>
            <a:pPr marL="12700">
              <a:lnSpc>
                <a:spcPct val="100000"/>
              </a:lnSpc>
              <a:spcBef>
                <a:spcPts val="65"/>
              </a:spcBef>
            </a:pPr>
            <a:r>
              <a:rPr dirty="0">
                <a:solidFill>
                  <a:schemeClr val="tx1"/>
                </a:solidFill>
              </a:rPr>
              <a:t>Department</a:t>
            </a:r>
            <a:r>
              <a:rPr spc="125" dirty="0">
                <a:solidFill>
                  <a:schemeClr val="tx1"/>
                </a:solidFill>
              </a:rPr>
              <a:t> </a:t>
            </a:r>
            <a:r>
              <a:rPr dirty="0">
                <a:solidFill>
                  <a:schemeClr val="tx1"/>
                </a:solidFill>
              </a:rPr>
              <a:t>of</a:t>
            </a:r>
            <a:r>
              <a:rPr spc="114" dirty="0">
                <a:solidFill>
                  <a:schemeClr val="tx1"/>
                </a:solidFill>
              </a:rPr>
              <a:t> </a:t>
            </a:r>
            <a:r>
              <a:rPr spc="70" dirty="0">
                <a:solidFill>
                  <a:schemeClr val="tx1"/>
                </a:solidFill>
              </a:rPr>
              <a:t>CSE(AI&amp;ML),</a:t>
            </a:r>
            <a:r>
              <a:rPr spc="75" dirty="0">
                <a:solidFill>
                  <a:schemeClr val="tx1"/>
                </a:solidFill>
              </a:rPr>
              <a:t> </a:t>
            </a:r>
            <a:r>
              <a:rPr spc="114" dirty="0">
                <a:solidFill>
                  <a:schemeClr val="tx1"/>
                </a:solidFill>
              </a:rPr>
              <a:t>MCE,</a:t>
            </a:r>
            <a:r>
              <a:rPr spc="165" dirty="0">
                <a:solidFill>
                  <a:schemeClr val="tx1"/>
                </a:solidFill>
              </a:rPr>
              <a:t> </a:t>
            </a:r>
            <a:r>
              <a:rPr spc="-10" dirty="0">
                <a:solidFill>
                  <a:schemeClr val="tx1"/>
                </a:solidFill>
              </a:rPr>
              <a:t>Hassan</a:t>
            </a:r>
          </a:p>
        </p:txBody>
      </p:sp>
      <p:sp>
        <p:nvSpPr>
          <p:cNvPr id="7" name="object 7"/>
          <p:cNvSpPr txBox="1">
            <a:spLocks noGrp="1"/>
          </p:cNvSpPr>
          <p:nvPr>
            <p:ph type="sldNum" sz="quarter" idx="7"/>
          </p:nvPr>
        </p:nvSpPr>
        <p:spPr>
          <a:xfrm>
            <a:off x="17173956" y="9723745"/>
            <a:ext cx="215900" cy="374461"/>
          </a:xfrm>
          <a:prstGeom prst="rect">
            <a:avLst/>
          </a:prstGeom>
        </p:spPr>
        <p:txBody>
          <a:bodyPr vert="horz" wrap="square" lIns="0" tIns="5080" rIns="0" bIns="0" rtlCol="0">
            <a:spAutoFit/>
          </a:bodyPr>
          <a:lstStyle/>
          <a:p>
            <a:pPr marL="12700">
              <a:lnSpc>
                <a:spcPct val="100000"/>
              </a:lnSpc>
              <a:spcBef>
                <a:spcPts val="40"/>
              </a:spcBef>
            </a:pPr>
            <a:r>
              <a:rPr lang="en-US" spc="-25" dirty="0">
                <a:solidFill>
                  <a:schemeClr val="tx1"/>
                </a:solidFill>
              </a:rPr>
              <a:t>6</a:t>
            </a:r>
            <a:endParaRPr lang="en-US" spc="-25" dirty="0">
              <a:solidFill>
                <a:schemeClr val="tx1"/>
              </a:solidFill>
            </a:endParaRPr>
          </a:p>
          <a:p>
            <a:pPr marL="12700">
              <a:lnSpc>
                <a:spcPct val="100000"/>
              </a:lnSpc>
              <a:spcBef>
                <a:spcPts val="40"/>
              </a:spcBef>
            </a:pPr>
            <a:endParaRPr lang="en-US" spc="-25" dirty="0">
              <a:solidFill>
                <a:schemeClr val="tx1"/>
              </a:solidFill>
            </a:endParaRPr>
          </a:p>
        </p:txBody>
      </p:sp>
      <p:sp>
        <p:nvSpPr>
          <p:cNvPr id="8" name="AutoShape 5">
            <a:extLst>
              <a:ext uri="{FF2B5EF4-FFF2-40B4-BE49-F238E27FC236}">
                <a16:creationId xmlns:a16="http://schemas.microsoft.com/office/drawing/2014/main" xmlns="" id="{ED723E62-55BB-4526-9C25-76A2D7E343B1}"/>
              </a:ext>
            </a:extLst>
          </p:cNvPr>
          <p:cNvSpPr/>
          <p:nvPr/>
        </p:nvSpPr>
        <p:spPr>
          <a:xfrm>
            <a:off x="0" y="9419765"/>
            <a:ext cx="18288000" cy="0"/>
          </a:xfrm>
          <a:prstGeom prst="line">
            <a:avLst/>
          </a:prstGeom>
          <a:ln w="9525" cap="flat">
            <a:solidFill>
              <a:srgbClr val="23593E"/>
            </a:solidFill>
            <a:prstDash val="solid"/>
            <a:headEnd type="none" w="sm" len="sm"/>
            <a:tailEnd type="none" w="sm" len="sm"/>
          </a:ln>
        </p:spPr>
      </p:sp>
      <p:sp>
        <p:nvSpPr>
          <p:cNvPr id="10" name="object 5">
            <a:extLst>
              <a:ext uri="{FF2B5EF4-FFF2-40B4-BE49-F238E27FC236}">
                <a16:creationId xmlns:a16="http://schemas.microsoft.com/office/drawing/2014/main" xmlns="" id="{F8A359D3-34E1-425B-A101-F5EF8B433FAB}"/>
              </a:ext>
            </a:extLst>
          </p:cNvPr>
          <p:cNvSpPr txBox="1">
            <a:spLocks noGrp="1"/>
          </p:cNvSpPr>
          <p:nvPr>
            <p:ph type="dt" sz="half" idx="6"/>
          </p:nvPr>
        </p:nvSpPr>
        <p:spPr>
          <a:xfrm>
            <a:off x="917575" y="9729254"/>
            <a:ext cx="864235" cy="223138"/>
          </a:xfrm>
          <a:prstGeom prst="rect">
            <a:avLst/>
          </a:prstGeom>
        </p:spPr>
        <p:txBody>
          <a:bodyPr vert="horz" wrap="square" lIns="0" tIns="7620" rIns="0" bIns="0" rtlCol="0">
            <a:spAutoFit/>
          </a:bodyPr>
          <a:lstStyle/>
          <a:p>
            <a:pPr marL="12700">
              <a:lnSpc>
                <a:spcPct val="100000"/>
              </a:lnSpc>
              <a:spcBef>
                <a:spcPts val="60"/>
              </a:spcBef>
            </a:pPr>
            <a:r>
              <a:rPr lang="en-US" spc="-10" dirty="0" smtClean="0">
                <a:solidFill>
                  <a:schemeClr val="tx1"/>
                </a:solidFill>
              </a:rPr>
              <a:t>31</a:t>
            </a:r>
            <a:r>
              <a:rPr spc="-10" dirty="0" smtClean="0">
                <a:solidFill>
                  <a:schemeClr val="tx1"/>
                </a:solidFill>
              </a:rPr>
              <a:t>-</a:t>
            </a:r>
            <a:r>
              <a:rPr lang="en-US" spc="-10" dirty="0">
                <a:solidFill>
                  <a:schemeClr val="tx1"/>
                </a:solidFill>
              </a:rPr>
              <a:t>12</a:t>
            </a:r>
            <a:r>
              <a:rPr spc="-10" dirty="0">
                <a:solidFill>
                  <a:schemeClr val="tx1"/>
                </a:solidFill>
              </a:rPr>
              <a:t>-</a:t>
            </a:r>
            <a:r>
              <a:rPr spc="-20" dirty="0">
                <a:solidFill>
                  <a:schemeClr val="tx1"/>
                </a:solidFill>
              </a:rPr>
              <a:t>2025</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6911" b="2394"/>
          <a:stretch/>
        </p:blipFill>
        <p:spPr>
          <a:xfrm>
            <a:off x="11049000" y="342900"/>
            <a:ext cx="7010400" cy="89001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4851" y="679132"/>
            <a:ext cx="10264140" cy="941069"/>
          </a:xfrm>
          <a:prstGeom prst="rect">
            <a:avLst/>
          </a:prstGeom>
        </p:spPr>
        <p:txBody>
          <a:bodyPr vert="horz" wrap="square" lIns="0" tIns="13335" rIns="0" bIns="0" rtlCol="0">
            <a:spAutoFit/>
          </a:bodyPr>
          <a:lstStyle/>
          <a:p>
            <a:pPr marL="12700">
              <a:lnSpc>
                <a:spcPct val="100000"/>
              </a:lnSpc>
              <a:spcBef>
                <a:spcPts val="105"/>
              </a:spcBef>
            </a:pPr>
            <a:r>
              <a:rPr lang="en-IN" sz="6000" dirty="0"/>
              <a:t>Agent Responsibilities</a:t>
            </a:r>
          </a:p>
        </p:txBody>
      </p:sp>
      <p:sp>
        <p:nvSpPr>
          <p:cNvPr id="3" name="object 3"/>
          <p:cNvSpPr txBox="1">
            <a:spLocks noGrp="1"/>
          </p:cNvSpPr>
          <p:nvPr>
            <p:ph type="ftr" sz="quarter" idx="5"/>
          </p:nvPr>
        </p:nvSpPr>
        <p:spPr>
          <a:xfrm>
            <a:off x="7849616" y="9709005"/>
            <a:ext cx="3434079" cy="223779"/>
          </a:xfrm>
          <a:prstGeom prst="rect">
            <a:avLst/>
          </a:prstGeom>
        </p:spPr>
        <p:txBody>
          <a:bodyPr vert="horz" wrap="square" lIns="0" tIns="8255" rIns="0" bIns="0" rtlCol="0">
            <a:spAutoFit/>
          </a:bodyPr>
          <a:lstStyle/>
          <a:p>
            <a:pPr marL="12700">
              <a:lnSpc>
                <a:spcPct val="100000"/>
              </a:lnSpc>
              <a:spcBef>
                <a:spcPts val="65"/>
              </a:spcBef>
            </a:pPr>
            <a:r>
              <a:rPr dirty="0">
                <a:solidFill>
                  <a:schemeClr val="tx1"/>
                </a:solidFill>
              </a:rPr>
              <a:t>Department</a:t>
            </a:r>
            <a:r>
              <a:rPr spc="125" dirty="0">
                <a:solidFill>
                  <a:schemeClr val="tx1"/>
                </a:solidFill>
              </a:rPr>
              <a:t> </a:t>
            </a:r>
            <a:r>
              <a:rPr dirty="0">
                <a:solidFill>
                  <a:schemeClr val="tx1"/>
                </a:solidFill>
              </a:rPr>
              <a:t>of</a:t>
            </a:r>
            <a:r>
              <a:rPr spc="114" dirty="0">
                <a:solidFill>
                  <a:schemeClr val="tx1"/>
                </a:solidFill>
              </a:rPr>
              <a:t> </a:t>
            </a:r>
            <a:r>
              <a:rPr spc="70" dirty="0">
                <a:solidFill>
                  <a:schemeClr val="tx1"/>
                </a:solidFill>
              </a:rPr>
              <a:t>CSE(AI&amp;ML),</a:t>
            </a:r>
            <a:r>
              <a:rPr spc="75" dirty="0">
                <a:solidFill>
                  <a:schemeClr val="tx1"/>
                </a:solidFill>
              </a:rPr>
              <a:t> </a:t>
            </a:r>
            <a:r>
              <a:rPr spc="114" dirty="0">
                <a:solidFill>
                  <a:schemeClr val="tx1"/>
                </a:solidFill>
              </a:rPr>
              <a:t>MCE,</a:t>
            </a:r>
            <a:r>
              <a:rPr spc="165" dirty="0">
                <a:solidFill>
                  <a:schemeClr val="tx1"/>
                </a:solidFill>
              </a:rPr>
              <a:t> </a:t>
            </a:r>
            <a:r>
              <a:rPr spc="-10" dirty="0">
                <a:solidFill>
                  <a:schemeClr val="tx1"/>
                </a:solidFill>
              </a:rPr>
              <a:t>Hassan</a:t>
            </a:r>
          </a:p>
        </p:txBody>
      </p:sp>
      <p:sp>
        <p:nvSpPr>
          <p:cNvPr id="5" name="object 5"/>
          <p:cNvSpPr txBox="1">
            <a:spLocks noGrp="1"/>
          </p:cNvSpPr>
          <p:nvPr>
            <p:ph type="sldNum" sz="quarter" idx="7"/>
          </p:nvPr>
        </p:nvSpPr>
        <p:spPr>
          <a:xfrm>
            <a:off x="17173956" y="9723745"/>
            <a:ext cx="215900" cy="189796"/>
          </a:xfrm>
          <a:prstGeom prst="rect">
            <a:avLst/>
          </a:prstGeom>
        </p:spPr>
        <p:txBody>
          <a:bodyPr vert="horz" wrap="square" lIns="0" tIns="5080" rIns="0" bIns="0" rtlCol="0">
            <a:spAutoFit/>
          </a:bodyPr>
          <a:lstStyle/>
          <a:p>
            <a:pPr marL="12700">
              <a:lnSpc>
                <a:spcPct val="100000"/>
              </a:lnSpc>
              <a:spcBef>
                <a:spcPts val="40"/>
              </a:spcBef>
            </a:pPr>
            <a:r>
              <a:rPr lang="en-US" spc="-25" dirty="0">
                <a:solidFill>
                  <a:schemeClr val="tx1"/>
                </a:solidFill>
              </a:rPr>
              <a:t>7</a:t>
            </a:r>
            <a:endParaRPr spc="-25" dirty="0">
              <a:solidFill>
                <a:schemeClr val="tx1"/>
              </a:solidFill>
            </a:endParaRPr>
          </a:p>
        </p:txBody>
      </p:sp>
      <p:sp>
        <p:nvSpPr>
          <p:cNvPr id="7" name="AutoShape 5">
            <a:extLst>
              <a:ext uri="{FF2B5EF4-FFF2-40B4-BE49-F238E27FC236}">
                <a16:creationId xmlns:a16="http://schemas.microsoft.com/office/drawing/2014/main" xmlns="" id="{E0960F5C-E17C-4157-ACB4-96239FF18BFC}"/>
              </a:ext>
            </a:extLst>
          </p:cNvPr>
          <p:cNvSpPr/>
          <p:nvPr/>
        </p:nvSpPr>
        <p:spPr>
          <a:xfrm>
            <a:off x="0" y="9419765"/>
            <a:ext cx="18288000" cy="0"/>
          </a:xfrm>
          <a:prstGeom prst="line">
            <a:avLst/>
          </a:prstGeom>
          <a:ln w="9525" cap="flat">
            <a:solidFill>
              <a:srgbClr val="23593E"/>
            </a:solidFill>
            <a:prstDash val="solid"/>
            <a:headEnd type="none" w="sm" len="sm"/>
            <a:tailEnd type="none" w="sm" len="sm"/>
          </a:ln>
        </p:spPr>
      </p:sp>
      <p:sp>
        <p:nvSpPr>
          <p:cNvPr id="9" name="object 5">
            <a:extLst>
              <a:ext uri="{FF2B5EF4-FFF2-40B4-BE49-F238E27FC236}">
                <a16:creationId xmlns:a16="http://schemas.microsoft.com/office/drawing/2014/main" xmlns="" id="{C960869F-D208-48ED-8AC5-181EC4B65EDE}"/>
              </a:ext>
            </a:extLst>
          </p:cNvPr>
          <p:cNvSpPr txBox="1">
            <a:spLocks noGrp="1"/>
          </p:cNvSpPr>
          <p:nvPr>
            <p:ph type="dt" sz="half" idx="6"/>
          </p:nvPr>
        </p:nvSpPr>
        <p:spPr>
          <a:xfrm>
            <a:off x="917575" y="9729254"/>
            <a:ext cx="864235" cy="223138"/>
          </a:xfrm>
          <a:prstGeom prst="rect">
            <a:avLst/>
          </a:prstGeom>
        </p:spPr>
        <p:txBody>
          <a:bodyPr vert="horz" wrap="square" lIns="0" tIns="7620" rIns="0" bIns="0" rtlCol="0">
            <a:spAutoFit/>
          </a:bodyPr>
          <a:lstStyle/>
          <a:p>
            <a:pPr marL="12700">
              <a:lnSpc>
                <a:spcPct val="100000"/>
              </a:lnSpc>
              <a:spcBef>
                <a:spcPts val="60"/>
              </a:spcBef>
            </a:pPr>
            <a:r>
              <a:rPr lang="en-US" spc="-10" dirty="0" smtClean="0">
                <a:solidFill>
                  <a:schemeClr val="tx1"/>
                </a:solidFill>
              </a:rPr>
              <a:t>31</a:t>
            </a:r>
            <a:r>
              <a:rPr spc="-10" dirty="0" smtClean="0">
                <a:solidFill>
                  <a:schemeClr val="tx1"/>
                </a:solidFill>
              </a:rPr>
              <a:t>-</a:t>
            </a:r>
            <a:r>
              <a:rPr lang="en-US" spc="-10" dirty="0">
                <a:solidFill>
                  <a:schemeClr val="tx1"/>
                </a:solidFill>
              </a:rPr>
              <a:t>12</a:t>
            </a:r>
            <a:r>
              <a:rPr spc="-10" dirty="0">
                <a:solidFill>
                  <a:schemeClr val="tx1"/>
                </a:solidFill>
              </a:rPr>
              <a:t>-</a:t>
            </a:r>
            <a:r>
              <a:rPr spc="-20" dirty="0">
                <a:solidFill>
                  <a:schemeClr val="tx1"/>
                </a:solidFill>
              </a:rPr>
              <a:t>2025</a:t>
            </a:r>
          </a:p>
        </p:txBody>
      </p:sp>
      <p:sp>
        <p:nvSpPr>
          <p:cNvPr id="4" name="Rounded Rectangle 3"/>
          <p:cNvSpPr/>
          <p:nvPr/>
        </p:nvSpPr>
        <p:spPr>
          <a:xfrm>
            <a:off x="1051560" y="2552700"/>
            <a:ext cx="7543800" cy="5486400"/>
          </a:xfrm>
          <a:prstGeom prst="roundRect">
            <a:avLst/>
          </a:prstGeom>
          <a:solidFill>
            <a:srgbClr val="FFF8E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000" b="1" i="0" u="none" strike="noStrike" kern="0" cap="none" spc="0" normalizeH="0" baseline="0" noProof="0" dirty="0" smtClean="0">
              <a:ln>
                <a:noFill/>
              </a:ln>
              <a:solidFill>
                <a:srgbClr val="C0504D"/>
              </a:solidFill>
              <a:effectLst/>
              <a:uLnTx/>
              <a:uFillTx/>
              <a:latin typeface="Cambria" pitchFamily="18" charset="0"/>
              <a:ea typeface="Cambria" pitchFamily="18" charset="0"/>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US" sz="4000" b="1" dirty="0">
              <a:solidFill>
                <a:srgbClr val="C0504D"/>
              </a:solidFill>
              <a:latin typeface="Cambria" pitchFamily="18" charset="0"/>
              <a:ea typeface="Cambria"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4000" b="1" i="0" u="none" strike="noStrike" kern="0" cap="none" spc="0" normalizeH="0" baseline="0" noProof="0" dirty="0" smtClean="0">
                <a:ln>
                  <a:noFill/>
                </a:ln>
                <a:solidFill>
                  <a:srgbClr val="C0504D"/>
                </a:solidFill>
                <a:effectLst/>
                <a:uLnTx/>
                <a:uFillTx/>
                <a:latin typeface="Cambria" pitchFamily="18" charset="0"/>
                <a:ea typeface="Cambria" pitchFamily="18" charset="0"/>
                <a:cs typeface="+mn-cs"/>
              </a:rPr>
              <a:t>Planner Agent</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4000" b="0" i="0" u="none" strike="noStrike" kern="0" cap="none" spc="0" normalizeH="0" baseline="0" noProof="0" dirty="0" smtClean="0">
              <a:ln>
                <a:noFill/>
              </a:ln>
              <a:solidFill>
                <a:srgbClr val="C0504D"/>
              </a:solidFill>
              <a:effectLst/>
              <a:uLnTx/>
              <a:uFillTx/>
              <a:latin typeface="Cambria" pitchFamily="18" charset="0"/>
              <a:ea typeface="Cambria" pitchFamily="18" charset="0"/>
              <a:cs typeface="+mn-cs"/>
            </a:endParaRPr>
          </a:p>
          <a:p>
            <a:pPr marL="514350" marR="0" lvl="0" indent="-514350" defTabSz="914400" eaLnBrk="1" fontAlgn="auto" latinLnBrk="0" hangingPunct="1">
              <a:lnSpc>
                <a:spcPct val="150000"/>
              </a:lnSpc>
              <a:spcBef>
                <a:spcPts val="0"/>
              </a:spcBef>
              <a:spcAft>
                <a:spcPts val="0"/>
              </a:spcAft>
              <a:buClrTx/>
              <a:buSzTx/>
              <a:buFont typeface="+mj-lt"/>
              <a:buAutoNum type="arabicPeriod"/>
              <a:tabLst/>
              <a:defRPr/>
            </a:pPr>
            <a:r>
              <a:rPr kumimoji="0" lang="en-US" sz="3200" b="0" i="0" u="none" strike="noStrike" kern="0" cap="none" spc="0" normalizeH="0" baseline="0" noProof="0" dirty="0" smtClean="0">
                <a:ln>
                  <a:noFill/>
                </a:ln>
                <a:solidFill>
                  <a:schemeClr val="tx1"/>
                </a:solidFill>
                <a:effectLst/>
                <a:uLnTx/>
                <a:uFillTx/>
                <a:latin typeface="Cambria" pitchFamily="18" charset="0"/>
                <a:ea typeface="Cambria" pitchFamily="18" charset="0"/>
                <a:cs typeface="+mn-cs"/>
              </a:rPr>
              <a:t>Interprets the research topic</a:t>
            </a:r>
          </a:p>
          <a:p>
            <a:pPr marL="514350" marR="0" lvl="0" indent="-514350" defTabSz="914400" eaLnBrk="1" fontAlgn="auto" latinLnBrk="0" hangingPunct="1">
              <a:lnSpc>
                <a:spcPct val="150000"/>
              </a:lnSpc>
              <a:spcBef>
                <a:spcPts val="0"/>
              </a:spcBef>
              <a:spcAft>
                <a:spcPts val="0"/>
              </a:spcAft>
              <a:buClrTx/>
              <a:buSzTx/>
              <a:buFont typeface="+mj-lt"/>
              <a:buAutoNum type="arabicPeriod"/>
              <a:tabLst/>
              <a:defRPr/>
            </a:pPr>
            <a:r>
              <a:rPr kumimoji="0" lang="en-US" sz="3200" b="0" i="0" u="none" strike="noStrike" kern="0" cap="none" spc="0" normalizeH="0" baseline="0" noProof="0" dirty="0" smtClean="0">
                <a:ln>
                  <a:noFill/>
                </a:ln>
                <a:solidFill>
                  <a:schemeClr val="tx1"/>
                </a:solidFill>
                <a:effectLst/>
                <a:uLnTx/>
                <a:uFillTx/>
                <a:latin typeface="Cambria" pitchFamily="18" charset="0"/>
                <a:ea typeface="Cambria" pitchFamily="18" charset="0"/>
                <a:cs typeface="+mn-cs"/>
              </a:rPr>
              <a:t>Determines analysis depth and research strategy</a:t>
            </a:r>
          </a:p>
          <a:p>
            <a:pPr marL="514350" marR="0" lvl="0" indent="-514350" defTabSz="914400" eaLnBrk="1" fontAlgn="auto" latinLnBrk="0" hangingPunct="1">
              <a:lnSpc>
                <a:spcPct val="100000"/>
              </a:lnSpc>
              <a:spcBef>
                <a:spcPts val="0"/>
              </a:spcBef>
              <a:spcAft>
                <a:spcPts val="0"/>
              </a:spcAft>
              <a:buClrTx/>
              <a:buSzTx/>
              <a:buFont typeface="+mj-lt"/>
              <a:buAutoNum type="arabicPeriod"/>
              <a:tabLst/>
              <a:defRPr/>
            </a:pPr>
            <a:endParaRPr lang="en-US" sz="3200" dirty="0">
              <a:solidFill>
                <a:schemeClr val="tx1"/>
              </a:solidFill>
              <a:latin typeface="Cambria" pitchFamily="18" charset="0"/>
              <a:ea typeface="Cambria" pitchFamily="18" charset="0"/>
            </a:endParaRPr>
          </a:p>
          <a:p>
            <a:pPr marL="514350" marR="0" lvl="0" indent="-514350" defTabSz="914400" eaLnBrk="1" fontAlgn="auto" latinLnBrk="0" hangingPunct="1">
              <a:lnSpc>
                <a:spcPct val="100000"/>
              </a:lnSpc>
              <a:spcBef>
                <a:spcPts val="0"/>
              </a:spcBef>
              <a:spcAft>
                <a:spcPts val="0"/>
              </a:spcAft>
              <a:buClrTx/>
              <a:buSzTx/>
              <a:buFont typeface="+mj-lt"/>
              <a:buAutoNum type="arabicPeriod"/>
              <a:tabLst/>
              <a:defRPr/>
            </a:pPr>
            <a:endParaRPr kumimoji="0" lang="en-US" sz="3200" b="0" i="0" u="none" strike="noStrike" kern="0" cap="none" spc="0" normalizeH="0" baseline="0" noProof="0" dirty="0" smtClean="0">
              <a:ln>
                <a:noFill/>
              </a:ln>
              <a:solidFill>
                <a:schemeClr val="tx1"/>
              </a:solidFill>
              <a:effectLst/>
              <a:uLnTx/>
              <a:uFillTx/>
              <a:latin typeface="Cambria" pitchFamily="18" charset="0"/>
              <a:ea typeface="Cambria" pitchFamily="18" charset="0"/>
              <a:cs typeface="+mn-cs"/>
            </a:endParaRPr>
          </a:p>
          <a:p>
            <a:pPr marL="514350" marR="0" lvl="0" indent="-514350" defTabSz="914400" eaLnBrk="1" fontAlgn="auto" latinLnBrk="0" hangingPunct="1">
              <a:lnSpc>
                <a:spcPct val="100000"/>
              </a:lnSpc>
              <a:spcBef>
                <a:spcPts val="0"/>
              </a:spcBef>
              <a:spcAft>
                <a:spcPts val="0"/>
              </a:spcAft>
              <a:buClrTx/>
              <a:buSzTx/>
              <a:buFont typeface="+mj-lt"/>
              <a:buAutoNum type="arabicPeriod"/>
              <a:tabLst/>
              <a:defRPr/>
            </a:pPr>
            <a:endParaRPr kumimoji="0" lang="en-US" sz="3200" b="0" i="0" u="none" strike="noStrike" kern="0" cap="none" spc="0" normalizeH="0" baseline="0" noProof="0" dirty="0" smtClean="0">
              <a:ln>
                <a:noFill/>
              </a:ln>
              <a:solidFill>
                <a:schemeClr val="tx1"/>
              </a:solidFill>
              <a:effectLst/>
              <a:uLnTx/>
              <a:uFillTx/>
              <a:latin typeface="Cambria" pitchFamily="18" charset="0"/>
              <a:ea typeface="Cambria" pitchFamily="18" charset="0"/>
              <a:cs typeface="+mn-cs"/>
            </a:endParaRPr>
          </a:p>
          <a:p>
            <a:pPr marR="0" lvl="0" defTabSz="914400" eaLnBrk="1" fontAlgn="auto" latinLnBrk="0" hangingPunct="1">
              <a:lnSpc>
                <a:spcPct val="100000"/>
              </a:lnSpc>
              <a:spcBef>
                <a:spcPts val="0"/>
              </a:spcBef>
              <a:spcAft>
                <a:spcPts val="0"/>
              </a:spcAft>
              <a:buClrTx/>
              <a:buSzTx/>
              <a:tabLst/>
              <a:defRPr/>
            </a:pPr>
            <a:endParaRPr lang="en-US" sz="3200" dirty="0">
              <a:solidFill>
                <a:schemeClr val="tx1"/>
              </a:solidFill>
              <a:latin typeface="Cambria" pitchFamily="18" charset="0"/>
              <a:ea typeface="Cambria" pitchFamily="18" charset="0"/>
            </a:endParaRPr>
          </a:p>
        </p:txBody>
      </p:sp>
      <p:sp>
        <p:nvSpPr>
          <p:cNvPr id="10" name="Rounded Rectangle 9"/>
          <p:cNvSpPr/>
          <p:nvPr/>
        </p:nvSpPr>
        <p:spPr>
          <a:xfrm>
            <a:off x="9525000" y="2552700"/>
            <a:ext cx="7543800" cy="5486400"/>
          </a:xfrm>
          <a:prstGeom prst="roundRect">
            <a:avLst/>
          </a:prstGeom>
          <a:solidFill>
            <a:srgbClr val="FFF8E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smtClean="0">
                <a:solidFill>
                  <a:schemeClr val="accent2"/>
                </a:solidFill>
                <a:latin typeface="Cambria" pitchFamily="18" charset="0"/>
                <a:ea typeface="Cambria" pitchFamily="18" charset="0"/>
              </a:rPr>
              <a:t>Researcher Agent</a:t>
            </a:r>
            <a:endParaRPr lang="en-US" sz="3600" b="1" dirty="0" smtClean="0">
              <a:solidFill>
                <a:schemeClr val="tx1"/>
              </a:solidFill>
              <a:latin typeface="Cambria" pitchFamily="18" charset="0"/>
              <a:ea typeface="Cambria" pitchFamily="18" charset="0"/>
            </a:endParaRPr>
          </a:p>
          <a:p>
            <a:pPr algn="ctr"/>
            <a:endParaRPr lang="en-US" sz="3600" b="1" dirty="0" smtClean="0">
              <a:solidFill>
                <a:schemeClr val="tx1"/>
              </a:solidFill>
              <a:latin typeface="Cambria" pitchFamily="18" charset="0"/>
              <a:ea typeface="Cambria" pitchFamily="18" charset="0"/>
            </a:endParaRPr>
          </a:p>
          <a:p>
            <a:pPr marL="742950" indent="-742950">
              <a:lnSpc>
                <a:spcPct val="150000"/>
              </a:lnSpc>
              <a:buFont typeface="+mj-lt"/>
              <a:buAutoNum type="arabicPeriod"/>
            </a:pPr>
            <a:r>
              <a:rPr lang="en-US" sz="3200" dirty="0" smtClean="0">
                <a:solidFill>
                  <a:schemeClr val="tx1"/>
                </a:solidFill>
                <a:latin typeface="Cambria" pitchFamily="18" charset="0"/>
                <a:ea typeface="Cambria" pitchFamily="18" charset="0"/>
              </a:rPr>
              <a:t>Retrieves relevant academic papers from </a:t>
            </a:r>
            <a:r>
              <a:rPr lang="en-US" sz="3200" dirty="0" err="1" smtClean="0">
                <a:solidFill>
                  <a:schemeClr val="tx1"/>
                </a:solidFill>
                <a:latin typeface="Cambria" pitchFamily="18" charset="0"/>
                <a:ea typeface="Cambria" pitchFamily="18" charset="0"/>
              </a:rPr>
              <a:t>arXiv</a:t>
            </a:r>
            <a:endParaRPr lang="en-US" sz="3200" dirty="0" smtClean="0">
              <a:solidFill>
                <a:schemeClr val="tx1"/>
              </a:solidFill>
              <a:latin typeface="Cambria" pitchFamily="18" charset="0"/>
              <a:ea typeface="Cambria" pitchFamily="18" charset="0"/>
            </a:endParaRPr>
          </a:p>
          <a:p>
            <a:pPr marL="742950" indent="-742950">
              <a:lnSpc>
                <a:spcPct val="150000"/>
              </a:lnSpc>
              <a:buFont typeface="+mj-lt"/>
              <a:buAutoNum type="arabicPeriod"/>
            </a:pPr>
            <a:r>
              <a:rPr lang="en-US" sz="3200" dirty="0" smtClean="0">
                <a:solidFill>
                  <a:schemeClr val="tx1"/>
                </a:solidFill>
                <a:latin typeface="Cambria" pitchFamily="18" charset="0"/>
                <a:ea typeface="Cambria" pitchFamily="18" charset="0"/>
              </a:rPr>
              <a:t>Extracts titles, abstracts, and direct paper links</a:t>
            </a:r>
            <a:endParaRPr lang="en-US" sz="3200" dirty="0">
              <a:solidFill>
                <a:schemeClr val="tx1"/>
              </a:solidFill>
              <a:latin typeface="Cambria" pitchFamily="18" charset="0"/>
              <a:ea typeface="Cambria"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4851" y="679132"/>
            <a:ext cx="10264140" cy="941069"/>
          </a:xfrm>
          <a:prstGeom prst="rect">
            <a:avLst/>
          </a:prstGeom>
        </p:spPr>
        <p:txBody>
          <a:bodyPr vert="horz" wrap="square" lIns="0" tIns="13335" rIns="0" bIns="0" rtlCol="0">
            <a:spAutoFit/>
          </a:bodyPr>
          <a:lstStyle/>
          <a:p>
            <a:pPr marL="12700">
              <a:lnSpc>
                <a:spcPct val="100000"/>
              </a:lnSpc>
              <a:spcBef>
                <a:spcPts val="105"/>
              </a:spcBef>
            </a:pPr>
            <a:r>
              <a:rPr lang="en-IN" sz="6000" dirty="0"/>
              <a:t>Agent Responsibilities</a:t>
            </a:r>
          </a:p>
        </p:txBody>
      </p:sp>
      <p:sp>
        <p:nvSpPr>
          <p:cNvPr id="3" name="object 3"/>
          <p:cNvSpPr txBox="1">
            <a:spLocks noGrp="1"/>
          </p:cNvSpPr>
          <p:nvPr>
            <p:ph type="ftr" sz="quarter" idx="5"/>
          </p:nvPr>
        </p:nvSpPr>
        <p:spPr>
          <a:xfrm>
            <a:off x="7849616" y="9709005"/>
            <a:ext cx="3434079" cy="223779"/>
          </a:xfrm>
          <a:prstGeom prst="rect">
            <a:avLst/>
          </a:prstGeom>
        </p:spPr>
        <p:txBody>
          <a:bodyPr vert="horz" wrap="square" lIns="0" tIns="8255" rIns="0" bIns="0" rtlCol="0">
            <a:spAutoFit/>
          </a:bodyPr>
          <a:lstStyle/>
          <a:p>
            <a:pPr marL="12700">
              <a:lnSpc>
                <a:spcPct val="100000"/>
              </a:lnSpc>
              <a:spcBef>
                <a:spcPts val="65"/>
              </a:spcBef>
            </a:pPr>
            <a:r>
              <a:rPr dirty="0">
                <a:solidFill>
                  <a:schemeClr val="tx1"/>
                </a:solidFill>
              </a:rPr>
              <a:t>Department</a:t>
            </a:r>
            <a:r>
              <a:rPr spc="125" dirty="0">
                <a:solidFill>
                  <a:schemeClr val="tx1"/>
                </a:solidFill>
              </a:rPr>
              <a:t> </a:t>
            </a:r>
            <a:r>
              <a:rPr dirty="0">
                <a:solidFill>
                  <a:schemeClr val="tx1"/>
                </a:solidFill>
              </a:rPr>
              <a:t>of</a:t>
            </a:r>
            <a:r>
              <a:rPr spc="114" dirty="0">
                <a:solidFill>
                  <a:schemeClr val="tx1"/>
                </a:solidFill>
              </a:rPr>
              <a:t> </a:t>
            </a:r>
            <a:r>
              <a:rPr spc="70" dirty="0">
                <a:solidFill>
                  <a:schemeClr val="tx1"/>
                </a:solidFill>
              </a:rPr>
              <a:t>CSE(AI&amp;ML),</a:t>
            </a:r>
            <a:r>
              <a:rPr spc="75" dirty="0">
                <a:solidFill>
                  <a:schemeClr val="tx1"/>
                </a:solidFill>
              </a:rPr>
              <a:t> </a:t>
            </a:r>
            <a:r>
              <a:rPr spc="114" dirty="0">
                <a:solidFill>
                  <a:schemeClr val="tx1"/>
                </a:solidFill>
              </a:rPr>
              <a:t>MCE,</a:t>
            </a:r>
            <a:r>
              <a:rPr spc="165" dirty="0">
                <a:solidFill>
                  <a:schemeClr val="tx1"/>
                </a:solidFill>
              </a:rPr>
              <a:t> </a:t>
            </a:r>
            <a:r>
              <a:rPr spc="-10" dirty="0">
                <a:solidFill>
                  <a:schemeClr val="tx1"/>
                </a:solidFill>
              </a:rPr>
              <a:t>Hassan</a:t>
            </a:r>
          </a:p>
        </p:txBody>
      </p:sp>
      <p:sp>
        <p:nvSpPr>
          <p:cNvPr id="5" name="object 5"/>
          <p:cNvSpPr txBox="1">
            <a:spLocks noGrp="1"/>
          </p:cNvSpPr>
          <p:nvPr>
            <p:ph type="sldNum" sz="quarter" idx="7"/>
          </p:nvPr>
        </p:nvSpPr>
        <p:spPr>
          <a:xfrm>
            <a:off x="17173956" y="9723745"/>
            <a:ext cx="215900" cy="189796"/>
          </a:xfrm>
          <a:prstGeom prst="rect">
            <a:avLst/>
          </a:prstGeom>
        </p:spPr>
        <p:txBody>
          <a:bodyPr vert="horz" wrap="square" lIns="0" tIns="5080" rIns="0" bIns="0" rtlCol="0">
            <a:spAutoFit/>
          </a:bodyPr>
          <a:lstStyle/>
          <a:p>
            <a:pPr marL="12700">
              <a:lnSpc>
                <a:spcPct val="100000"/>
              </a:lnSpc>
              <a:spcBef>
                <a:spcPts val="40"/>
              </a:spcBef>
            </a:pPr>
            <a:r>
              <a:rPr lang="en-US" spc="-25" dirty="0">
                <a:solidFill>
                  <a:schemeClr val="tx1"/>
                </a:solidFill>
              </a:rPr>
              <a:t>8</a:t>
            </a:r>
            <a:endParaRPr spc="-25" dirty="0">
              <a:solidFill>
                <a:schemeClr val="tx1"/>
              </a:solidFill>
            </a:endParaRPr>
          </a:p>
        </p:txBody>
      </p:sp>
      <p:sp>
        <p:nvSpPr>
          <p:cNvPr id="7" name="AutoShape 5">
            <a:extLst>
              <a:ext uri="{FF2B5EF4-FFF2-40B4-BE49-F238E27FC236}">
                <a16:creationId xmlns:a16="http://schemas.microsoft.com/office/drawing/2014/main" xmlns="" id="{E0960F5C-E17C-4157-ACB4-96239FF18BFC}"/>
              </a:ext>
            </a:extLst>
          </p:cNvPr>
          <p:cNvSpPr/>
          <p:nvPr/>
        </p:nvSpPr>
        <p:spPr>
          <a:xfrm>
            <a:off x="0" y="9419765"/>
            <a:ext cx="18288000" cy="0"/>
          </a:xfrm>
          <a:prstGeom prst="line">
            <a:avLst/>
          </a:prstGeom>
          <a:ln w="9525" cap="flat">
            <a:solidFill>
              <a:srgbClr val="23593E"/>
            </a:solidFill>
            <a:prstDash val="solid"/>
            <a:headEnd type="none" w="sm" len="sm"/>
            <a:tailEnd type="none" w="sm" len="sm"/>
          </a:ln>
        </p:spPr>
      </p:sp>
      <p:sp>
        <p:nvSpPr>
          <p:cNvPr id="9" name="object 5">
            <a:extLst>
              <a:ext uri="{FF2B5EF4-FFF2-40B4-BE49-F238E27FC236}">
                <a16:creationId xmlns:a16="http://schemas.microsoft.com/office/drawing/2014/main" xmlns="" id="{C960869F-D208-48ED-8AC5-181EC4B65EDE}"/>
              </a:ext>
            </a:extLst>
          </p:cNvPr>
          <p:cNvSpPr txBox="1">
            <a:spLocks noGrp="1"/>
          </p:cNvSpPr>
          <p:nvPr>
            <p:ph type="dt" sz="half" idx="6"/>
          </p:nvPr>
        </p:nvSpPr>
        <p:spPr>
          <a:xfrm>
            <a:off x="917575" y="9729254"/>
            <a:ext cx="864235" cy="223138"/>
          </a:xfrm>
          <a:prstGeom prst="rect">
            <a:avLst/>
          </a:prstGeom>
        </p:spPr>
        <p:txBody>
          <a:bodyPr vert="horz" wrap="square" lIns="0" tIns="7620" rIns="0" bIns="0" rtlCol="0">
            <a:spAutoFit/>
          </a:bodyPr>
          <a:lstStyle/>
          <a:p>
            <a:pPr marL="12700">
              <a:lnSpc>
                <a:spcPct val="100000"/>
              </a:lnSpc>
              <a:spcBef>
                <a:spcPts val="60"/>
              </a:spcBef>
            </a:pPr>
            <a:r>
              <a:rPr lang="en-US" spc="-10" dirty="0" smtClean="0">
                <a:solidFill>
                  <a:schemeClr val="tx1"/>
                </a:solidFill>
              </a:rPr>
              <a:t>31</a:t>
            </a:r>
            <a:r>
              <a:rPr spc="-10" dirty="0" smtClean="0">
                <a:solidFill>
                  <a:schemeClr val="tx1"/>
                </a:solidFill>
              </a:rPr>
              <a:t>-</a:t>
            </a:r>
            <a:r>
              <a:rPr lang="en-US" spc="-10" dirty="0">
                <a:solidFill>
                  <a:schemeClr val="tx1"/>
                </a:solidFill>
              </a:rPr>
              <a:t>12</a:t>
            </a:r>
            <a:r>
              <a:rPr spc="-10" dirty="0">
                <a:solidFill>
                  <a:schemeClr val="tx1"/>
                </a:solidFill>
              </a:rPr>
              <a:t>-</a:t>
            </a:r>
            <a:r>
              <a:rPr spc="-20" dirty="0">
                <a:solidFill>
                  <a:schemeClr val="tx1"/>
                </a:solidFill>
              </a:rPr>
              <a:t>2025</a:t>
            </a:r>
          </a:p>
        </p:txBody>
      </p:sp>
      <p:sp>
        <p:nvSpPr>
          <p:cNvPr id="4" name="Rounded Rectangle 3"/>
          <p:cNvSpPr/>
          <p:nvPr/>
        </p:nvSpPr>
        <p:spPr>
          <a:xfrm>
            <a:off x="381000" y="2606040"/>
            <a:ext cx="5562600" cy="5814060"/>
          </a:xfrm>
          <a:prstGeom prst="roundRect">
            <a:avLst/>
          </a:prstGeom>
          <a:solidFill>
            <a:srgbClr val="FFF8E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000" b="1" i="0" u="none" strike="noStrike" kern="0" cap="none" spc="0" normalizeH="0" baseline="0" noProof="0" dirty="0" smtClean="0">
              <a:ln>
                <a:noFill/>
              </a:ln>
              <a:solidFill>
                <a:srgbClr val="C0504D"/>
              </a:solidFill>
              <a:effectLst/>
              <a:uLnTx/>
              <a:uFillTx/>
              <a:latin typeface="Cambria" pitchFamily="18" charset="0"/>
              <a:ea typeface="Cambria" pitchFamily="18" charset="0"/>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000" b="1" i="0" u="none" strike="noStrike" kern="0" cap="none" spc="0" normalizeH="0" baseline="0" noProof="0" dirty="0" smtClean="0">
              <a:ln>
                <a:noFill/>
              </a:ln>
              <a:solidFill>
                <a:srgbClr val="C0504D"/>
              </a:solidFill>
              <a:effectLst/>
              <a:uLnTx/>
              <a:uFillTx/>
              <a:latin typeface="Cambria" pitchFamily="18" charset="0"/>
              <a:ea typeface="Cambria" pitchFamily="18" charset="0"/>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4000" b="1" i="0" u="none" strike="noStrike" kern="0" cap="none" spc="0" normalizeH="0" baseline="0" noProof="0" dirty="0" smtClean="0">
                <a:ln>
                  <a:noFill/>
                </a:ln>
                <a:solidFill>
                  <a:srgbClr val="C0504D"/>
                </a:solidFill>
                <a:effectLst/>
                <a:uLnTx/>
                <a:uFillTx/>
                <a:latin typeface="Cambria" pitchFamily="18" charset="0"/>
                <a:ea typeface="Cambria" pitchFamily="18" charset="0"/>
                <a:cs typeface="+mn-cs"/>
              </a:rPr>
              <a:t>Analyzer Agent</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600" b="1" i="0" u="none" strike="noStrike" kern="0" cap="none" spc="0" normalizeH="0" baseline="0" noProof="0" dirty="0" smtClean="0">
              <a:ln>
                <a:noFill/>
              </a:ln>
              <a:solidFill>
                <a:srgbClr val="C0504D"/>
              </a:solidFill>
              <a:effectLst/>
              <a:uLnTx/>
              <a:uFillTx/>
              <a:latin typeface="Cambria" pitchFamily="18" charset="0"/>
              <a:ea typeface="Cambria" pitchFamily="18" charset="0"/>
              <a:cs typeface="+mn-cs"/>
            </a:endParaRPr>
          </a:p>
          <a:p>
            <a:pPr marL="514350" marR="0" lvl="0" indent="-514350" algn="l" defTabSz="914400" eaLnBrk="1" fontAlgn="auto" latinLnBrk="0" hangingPunct="1">
              <a:lnSpc>
                <a:spcPct val="150000"/>
              </a:lnSpc>
              <a:spcBef>
                <a:spcPts val="0"/>
              </a:spcBef>
              <a:spcAft>
                <a:spcPts val="0"/>
              </a:spcAft>
              <a:buClrTx/>
              <a:buSzTx/>
              <a:buFont typeface="+mj-lt"/>
              <a:buAutoNum type="arabicPeriod"/>
              <a:tabLst/>
              <a:defRPr/>
            </a:pPr>
            <a:r>
              <a:rPr kumimoji="0" lang="en-US" sz="3200" i="0" u="none" strike="noStrike" kern="0" cap="none" spc="0" normalizeH="0" baseline="0" noProof="0" dirty="0" smtClean="0">
                <a:ln>
                  <a:noFill/>
                </a:ln>
                <a:solidFill>
                  <a:schemeClr val="tx1"/>
                </a:solidFill>
                <a:effectLst/>
                <a:uLnTx/>
                <a:uFillTx/>
                <a:latin typeface="Cambria" pitchFamily="18" charset="0"/>
                <a:ea typeface="Cambria" pitchFamily="18" charset="0"/>
              </a:rPr>
              <a:t>Synthesizes information from multiple research papers</a:t>
            </a:r>
          </a:p>
          <a:p>
            <a:pPr marL="514350" marR="0" lvl="0" indent="-514350" algn="l" defTabSz="914400" eaLnBrk="1" fontAlgn="auto" latinLnBrk="0" hangingPunct="1">
              <a:lnSpc>
                <a:spcPct val="150000"/>
              </a:lnSpc>
              <a:spcBef>
                <a:spcPts val="0"/>
              </a:spcBef>
              <a:spcAft>
                <a:spcPts val="0"/>
              </a:spcAft>
              <a:buClrTx/>
              <a:buSzTx/>
              <a:buFont typeface="+mj-lt"/>
              <a:buAutoNum type="arabicPeriod"/>
              <a:tabLst/>
              <a:defRPr/>
            </a:pPr>
            <a:r>
              <a:rPr kumimoji="0" lang="en-US" sz="3200" i="0" u="none" strike="noStrike" kern="0" cap="none" spc="0" normalizeH="0" baseline="0" noProof="0" dirty="0" smtClean="0">
                <a:ln>
                  <a:noFill/>
                </a:ln>
                <a:solidFill>
                  <a:schemeClr val="tx1"/>
                </a:solidFill>
                <a:effectLst/>
                <a:uLnTx/>
                <a:uFillTx/>
                <a:latin typeface="Cambria" pitchFamily="18" charset="0"/>
                <a:ea typeface="Cambria" pitchFamily="18" charset="0"/>
              </a:rPr>
              <a:t>Performs comparative and thematic analysis</a:t>
            </a:r>
            <a:endParaRPr lang="en-US" sz="3200" dirty="0">
              <a:solidFill>
                <a:schemeClr val="tx1"/>
              </a:solidFill>
              <a:latin typeface="Cambria" pitchFamily="18" charset="0"/>
              <a:ea typeface="Cambria" pitchFamily="18" charset="0"/>
            </a:endParaRPr>
          </a:p>
          <a:p>
            <a:pPr marL="514350" marR="0" lvl="0" indent="-514350" defTabSz="914400" eaLnBrk="1" fontAlgn="auto" latinLnBrk="0" hangingPunct="1">
              <a:lnSpc>
                <a:spcPct val="100000"/>
              </a:lnSpc>
              <a:spcBef>
                <a:spcPts val="0"/>
              </a:spcBef>
              <a:spcAft>
                <a:spcPts val="0"/>
              </a:spcAft>
              <a:buClrTx/>
              <a:buSzTx/>
              <a:buFont typeface="+mj-lt"/>
              <a:buAutoNum type="arabicPeriod"/>
              <a:tabLst/>
              <a:defRPr/>
            </a:pPr>
            <a:endParaRPr kumimoji="0" lang="en-US" sz="3200" b="0" i="0" u="none" strike="noStrike" kern="0" cap="none" spc="0" normalizeH="0" baseline="0" noProof="0" dirty="0" smtClean="0">
              <a:ln>
                <a:noFill/>
              </a:ln>
              <a:solidFill>
                <a:schemeClr val="tx1"/>
              </a:solidFill>
              <a:effectLst/>
              <a:uLnTx/>
              <a:uFillTx/>
              <a:latin typeface="Cambria" pitchFamily="18" charset="0"/>
              <a:ea typeface="Cambria" pitchFamily="18" charset="0"/>
              <a:cs typeface="+mn-cs"/>
            </a:endParaRPr>
          </a:p>
          <a:p>
            <a:pPr marL="514350" marR="0" lvl="0" indent="-514350" defTabSz="914400" eaLnBrk="1" fontAlgn="auto" latinLnBrk="0" hangingPunct="1">
              <a:lnSpc>
                <a:spcPct val="100000"/>
              </a:lnSpc>
              <a:spcBef>
                <a:spcPts val="0"/>
              </a:spcBef>
              <a:spcAft>
                <a:spcPts val="0"/>
              </a:spcAft>
              <a:buClrTx/>
              <a:buSzTx/>
              <a:buFont typeface="+mj-lt"/>
              <a:buAutoNum type="arabicPeriod"/>
              <a:tabLst/>
              <a:defRPr/>
            </a:pPr>
            <a:endParaRPr kumimoji="0" lang="en-US" sz="3200" b="0" i="0" u="none" strike="noStrike" kern="0" cap="none" spc="0" normalizeH="0" baseline="0" noProof="0" dirty="0" smtClean="0">
              <a:ln>
                <a:noFill/>
              </a:ln>
              <a:solidFill>
                <a:schemeClr val="tx1"/>
              </a:solidFill>
              <a:effectLst/>
              <a:uLnTx/>
              <a:uFillTx/>
              <a:latin typeface="Cambria" pitchFamily="18" charset="0"/>
              <a:ea typeface="Cambria" pitchFamily="18" charset="0"/>
              <a:cs typeface="+mn-cs"/>
            </a:endParaRPr>
          </a:p>
          <a:p>
            <a:pPr marR="0" lvl="0" defTabSz="914400" eaLnBrk="1" fontAlgn="auto" latinLnBrk="0" hangingPunct="1">
              <a:lnSpc>
                <a:spcPct val="100000"/>
              </a:lnSpc>
              <a:spcBef>
                <a:spcPts val="0"/>
              </a:spcBef>
              <a:spcAft>
                <a:spcPts val="0"/>
              </a:spcAft>
              <a:buClrTx/>
              <a:buSzTx/>
              <a:tabLst/>
              <a:defRPr/>
            </a:pPr>
            <a:endParaRPr lang="en-US" sz="3200" dirty="0">
              <a:solidFill>
                <a:schemeClr val="tx1"/>
              </a:solidFill>
              <a:latin typeface="Cambria" pitchFamily="18" charset="0"/>
              <a:ea typeface="Cambria" pitchFamily="18" charset="0"/>
            </a:endParaRPr>
          </a:p>
        </p:txBody>
      </p:sp>
      <p:sp>
        <p:nvSpPr>
          <p:cNvPr id="11" name="Rounded Rectangle 10"/>
          <p:cNvSpPr/>
          <p:nvPr/>
        </p:nvSpPr>
        <p:spPr>
          <a:xfrm>
            <a:off x="12344400" y="2628900"/>
            <a:ext cx="5638800" cy="5791200"/>
          </a:xfrm>
          <a:prstGeom prst="roundRect">
            <a:avLst/>
          </a:prstGeom>
          <a:solidFill>
            <a:srgbClr val="FFF8E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000" b="1" i="0" u="none" strike="noStrike" kern="0" cap="none" spc="0" normalizeH="0" baseline="0" noProof="0" dirty="0" smtClean="0">
              <a:ln>
                <a:noFill/>
              </a:ln>
              <a:solidFill>
                <a:srgbClr val="C0504D"/>
              </a:solidFill>
              <a:effectLst/>
              <a:uLnTx/>
              <a:uFillTx/>
              <a:latin typeface="Cambria" pitchFamily="18" charset="0"/>
              <a:ea typeface="Cambria" pitchFamily="18" charset="0"/>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US" sz="4000" b="1" dirty="0">
              <a:solidFill>
                <a:srgbClr val="C0504D"/>
              </a:solidFill>
              <a:latin typeface="Cambria" pitchFamily="18" charset="0"/>
              <a:ea typeface="Cambria"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4000" b="1" i="0" u="none" strike="noStrike" kern="0" cap="none" spc="0" normalizeH="0" baseline="0" noProof="0" dirty="0" smtClean="0">
                <a:ln>
                  <a:noFill/>
                </a:ln>
                <a:solidFill>
                  <a:schemeClr val="accent2"/>
                </a:solidFill>
                <a:effectLst/>
                <a:uLnTx/>
                <a:uFillTx/>
                <a:latin typeface="Cambria" pitchFamily="18" charset="0"/>
                <a:ea typeface="Cambria" pitchFamily="18" charset="0"/>
                <a:cs typeface="+mn-cs"/>
              </a:rPr>
              <a:t>Reflector Agent</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000" b="1" i="0" u="none" strike="noStrike" kern="0" cap="none" spc="0" normalizeH="0" baseline="0" noProof="0" dirty="0" smtClean="0">
              <a:ln>
                <a:noFill/>
              </a:ln>
              <a:solidFill>
                <a:schemeClr val="accent2"/>
              </a:solidFill>
              <a:effectLst/>
              <a:uLnTx/>
              <a:uFillTx/>
              <a:latin typeface="Cambria" pitchFamily="18" charset="0"/>
              <a:ea typeface="Cambria" pitchFamily="18" charset="0"/>
              <a:cs typeface="+mn-cs"/>
            </a:endParaRPr>
          </a:p>
          <a:p>
            <a:pPr marL="514350" marR="0" lvl="0" indent="-514350" defTabSz="914400" eaLnBrk="1" fontAlgn="auto" latinLnBrk="0" hangingPunct="1">
              <a:lnSpc>
                <a:spcPct val="150000"/>
              </a:lnSpc>
              <a:spcBef>
                <a:spcPts val="0"/>
              </a:spcBef>
              <a:spcAft>
                <a:spcPts val="0"/>
              </a:spcAft>
              <a:buClrTx/>
              <a:buSzTx/>
              <a:buFont typeface="+mj-lt"/>
              <a:buAutoNum type="arabicPeriod"/>
              <a:tabLst/>
              <a:defRPr/>
            </a:pPr>
            <a:r>
              <a:rPr kumimoji="0" lang="en-US" sz="3200" b="0" i="0" u="none" strike="noStrike" kern="0" cap="none" spc="0" normalizeH="0" baseline="0" noProof="0" dirty="0" smtClean="0">
                <a:ln>
                  <a:noFill/>
                </a:ln>
                <a:solidFill>
                  <a:schemeClr val="tx1"/>
                </a:solidFill>
                <a:effectLst/>
                <a:uLnTx/>
                <a:uFillTx/>
                <a:latin typeface="Cambria" pitchFamily="18" charset="0"/>
                <a:ea typeface="Cambria" pitchFamily="18" charset="0"/>
                <a:cs typeface="+mn-cs"/>
              </a:rPr>
              <a:t>Refines the verified analysis</a:t>
            </a:r>
          </a:p>
          <a:p>
            <a:pPr marL="514350" marR="0" lvl="0" indent="-514350" defTabSz="914400" eaLnBrk="1" fontAlgn="auto" latinLnBrk="0" hangingPunct="1">
              <a:lnSpc>
                <a:spcPct val="150000"/>
              </a:lnSpc>
              <a:spcBef>
                <a:spcPts val="0"/>
              </a:spcBef>
              <a:spcAft>
                <a:spcPts val="0"/>
              </a:spcAft>
              <a:buClrTx/>
              <a:buSzTx/>
              <a:buFont typeface="+mj-lt"/>
              <a:buAutoNum type="arabicPeriod"/>
              <a:tabLst/>
              <a:defRPr/>
            </a:pPr>
            <a:r>
              <a:rPr kumimoji="0" lang="en-US" sz="3200" b="0" i="0" u="none" strike="noStrike" kern="0" cap="none" spc="0" normalizeH="0" baseline="0" noProof="0" dirty="0" smtClean="0">
                <a:ln>
                  <a:noFill/>
                </a:ln>
                <a:solidFill>
                  <a:schemeClr val="tx1"/>
                </a:solidFill>
                <a:effectLst/>
                <a:uLnTx/>
                <a:uFillTx/>
                <a:latin typeface="Cambria" pitchFamily="18" charset="0"/>
                <a:ea typeface="Cambria" pitchFamily="18" charset="0"/>
                <a:cs typeface="+mn-cs"/>
              </a:rPr>
              <a:t>Prepares structured final output</a:t>
            </a:r>
            <a:endParaRPr lang="en-US" sz="3200" dirty="0">
              <a:solidFill>
                <a:schemeClr val="tx1"/>
              </a:solidFill>
              <a:latin typeface="Cambria" pitchFamily="18" charset="0"/>
              <a:ea typeface="Cambria" pitchFamily="18" charset="0"/>
            </a:endParaRPr>
          </a:p>
          <a:p>
            <a:pPr marL="514350" marR="0" lvl="0" indent="-514350" defTabSz="914400" eaLnBrk="1" fontAlgn="auto" latinLnBrk="0" hangingPunct="1">
              <a:lnSpc>
                <a:spcPct val="100000"/>
              </a:lnSpc>
              <a:spcBef>
                <a:spcPts val="0"/>
              </a:spcBef>
              <a:spcAft>
                <a:spcPts val="0"/>
              </a:spcAft>
              <a:buClrTx/>
              <a:buSzTx/>
              <a:buFont typeface="+mj-lt"/>
              <a:buAutoNum type="arabicPeriod"/>
              <a:tabLst/>
              <a:defRPr/>
            </a:pPr>
            <a:endParaRPr kumimoji="0" lang="en-US" sz="3200" b="0" i="0" u="none" strike="noStrike" kern="0" cap="none" spc="0" normalizeH="0" baseline="0" noProof="0" dirty="0" smtClean="0">
              <a:ln>
                <a:noFill/>
              </a:ln>
              <a:solidFill>
                <a:schemeClr val="tx1"/>
              </a:solidFill>
              <a:effectLst/>
              <a:uLnTx/>
              <a:uFillTx/>
              <a:latin typeface="Cambria" pitchFamily="18" charset="0"/>
              <a:ea typeface="Cambria" pitchFamily="18" charset="0"/>
              <a:cs typeface="+mn-cs"/>
            </a:endParaRPr>
          </a:p>
          <a:p>
            <a:pPr marL="514350" marR="0" lvl="0" indent="-514350" defTabSz="914400" eaLnBrk="1" fontAlgn="auto" latinLnBrk="0" hangingPunct="1">
              <a:lnSpc>
                <a:spcPct val="100000"/>
              </a:lnSpc>
              <a:spcBef>
                <a:spcPts val="0"/>
              </a:spcBef>
              <a:spcAft>
                <a:spcPts val="0"/>
              </a:spcAft>
              <a:buClrTx/>
              <a:buSzTx/>
              <a:buFont typeface="+mj-lt"/>
              <a:buAutoNum type="arabicPeriod"/>
              <a:tabLst/>
              <a:defRPr/>
            </a:pPr>
            <a:endParaRPr kumimoji="0" lang="en-US" sz="3200" b="0" i="0" u="none" strike="noStrike" kern="0" cap="none" spc="0" normalizeH="0" baseline="0" noProof="0" dirty="0" smtClean="0">
              <a:ln>
                <a:noFill/>
              </a:ln>
              <a:solidFill>
                <a:schemeClr val="tx1"/>
              </a:solidFill>
              <a:effectLst/>
              <a:uLnTx/>
              <a:uFillTx/>
              <a:latin typeface="Cambria" pitchFamily="18" charset="0"/>
              <a:ea typeface="Cambria" pitchFamily="18" charset="0"/>
              <a:cs typeface="+mn-cs"/>
            </a:endParaRPr>
          </a:p>
          <a:p>
            <a:pPr marR="0" lvl="0" defTabSz="914400" eaLnBrk="1" fontAlgn="auto" latinLnBrk="0" hangingPunct="1">
              <a:lnSpc>
                <a:spcPct val="100000"/>
              </a:lnSpc>
              <a:spcBef>
                <a:spcPts val="0"/>
              </a:spcBef>
              <a:spcAft>
                <a:spcPts val="0"/>
              </a:spcAft>
              <a:buClrTx/>
              <a:buSzTx/>
              <a:tabLst/>
              <a:defRPr/>
            </a:pPr>
            <a:endParaRPr lang="en-US" sz="3200" dirty="0">
              <a:solidFill>
                <a:schemeClr val="tx1"/>
              </a:solidFill>
              <a:latin typeface="Cambria" pitchFamily="18" charset="0"/>
              <a:ea typeface="Cambria" pitchFamily="18" charset="0"/>
            </a:endParaRPr>
          </a:p>
        </p:txBody>
      </p:sp>
      <p:sp>
        <p:nvSpPr>
          <p:cNvPr id="12" name="Rounded Rectangle 11"/>
          <p:cNvSpPr/>
          <p:nvPr/>
        </p:nvSpPr>
        <p:spPr>
          <a:xfrm>
            <a:off x="6362700" y="2621280"/>
            <a:ext cx="5562600" cy="5798820"/>
          </a:xfrm>
          <a:prstGeom prst="roundRect">
            <a:avLst/>
          </a:prstGeom>
          <a:solidFill>
            <a:srgbClr val="FFF8E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4000" b="0" i="0" u="none" strike="noStrike" kern="0" cap="none" spc="0" normalizeH="0" baseline="0" noProof="0" dirty="0" smtClean="0">
              <a:ln>
                <a:noFill/>
              </a:ln>
              <a:solidFill>
                <a:srgbClr val="C0504D"/>
              </a:solidFill>
              <a:effectLst/>
              <a:uLnTx/>
              <a:uFillTx/>
              <a:latin typeface="Cambria" pitchFamily="18" charset="0"/>
              <a:ea typeface="Cambria" pitchFamily="18" charset="0"/>
              <a:cs typeface="+mn-cs"/>
            </a:endParaRPr>
          </a:p>
          <a:p>
            <a:pPr marR="0" lvl="0" algn="ctr" defTabSz="914400" eaLnBrk="1" fontAlgn="auto" latinLnBrk="0" hangingPunct="1">
              <a:lnSpc>
                <a:spcPct val="150000"/>
              </a:lnSpc>
              <a:spcBef>
                <a:spcPts val="0"/>
              </a:spcBef>
              <a:spcAft>
                <a:spcPts val="0"/>
              </a:spcAft>
              <a:buClrTx/>
              <a:buSzTx/>
              <a:tabLst/>
              <a:defRPr/>
            </a:pPr>
            <a:endParaRPr kumimoji="0" lang="en-US" sz="4000" b="1" i="0" u="none" strike="noStrike" kern="0" cap="none" spc="0" normalizeH="0" baseline="0" noProof="0" dirty="0" smtClean="0">
              <a:ln>
                <a:noFill/>
              </a:ln>
              <a:solidFill>
                <a:schemeClr val="accent2"/>
              </a:solidFill>
              <a:effectLst/>
              <a:uLnTx/>
              <a:uFillTx/>
              <a:latin typeface="Cambria" pitchFamily="18" charset="0"/>
              <a:ea typeface="Cambria" pitchFamily="18" charset="0"/>
              <a:cs typeface="+mn-cs"/>
            </a:endParaRPr>
          </a:p>
          <a:p>
            <a:pPr marR="0" lvl="0" algn="ctr" defTabSz="914400" eaLnBrk="1" fontAlgn="auto" latinLnBrk="0" hangingPunct="1">
              <a:lnSpc>
                <a:spcPct val="150000"/>
              </a:lnSpc>
              <a:spcBef>
                <a:spcPts val="0"/>
              </a:spcBef>
              <a:spcAft>
                <a:spcPts val="0"/>
              </a:spcAft>
              <a:buClrTx/>
              <a:buSzTx/>
              <a:tabLst/>
              <a:defRPr/>
            </a:pPr>
            <a:r>
              <a:rPr kumimoji="0" lang="en-US" sz="4000" b="1" i="0" u="none" strike="noStrike" kern="0" cap="none" spc="0" normalizeH="0" baseline="0" noProof="0" dirty="0" smtClean="0">
                <a:ln>
                  <a:noFill/>
                </a:ln>
                <a:solidFill>
                  <a:schemeClr val="accent2"/>
                </a:solidFill>
                <a:effectLst/>
                <a:uLnTx/>
                <a:uFillTx/>
                <a:latin typeface="Cambria" pitchFamily="18" charset="0"/>
                <a:ea typeface="Cambria" pitchFamily="18" charset="0"/>
                <a:cs typeface="+mn-cs"/>
              </a:rPr>
              <a:t>Verifier Agent</a:t>
            </a:r>
          </a:p>
          <a:p>
            <a:pPr marR="0" lvl="0" defTabSz="914400" eaLnBrk="1" fontAlgn="auto" latinLnBrk="0" hangingPunct="1">
              <a:lnSpc>
                <a:spcPct val="150000"/>
              </a:lnSpc>
              <a:spcBef>
                <a:spcPts val="0"/>
              </a:spcBef>
              <a:spcAft>
                <a:spcPts val="0"/>
              </a:spcAft>
              <a:buClrTx/>
              <a:buSzTx/>
              <a:tabLst/>
              <a:defRPr/>
            </a:pPr>
            <a:endParaRPr kumimoji="0" lang="en-US" sz="2000" b="1" i="0" u="none" strike="noStrike" kern="0" cap="none" spc="0" normalizeH="0" baseline="0" noProof="0" dirty="0" smtClean="0">
              <a:ln>
                <a:noFill/>
              </a:ln>
              <a:solidFill>
                <a:schemeClr val="accent2"/>
              </a:solidFill>
              <a:effectLst/>
              <a:uLnTx/>
              <a:uFillTx/>
              <a:latin typeface="Cambria" pitchFamily="18" charset="0"/>
              <a:ea typeface="Cambria" pitchFamily="18" charset="0"/>
              <a:cs typeface="+mn-cs"/>
            </a:endParaRPr>
          </a:p>
          <a:p>
            <a:pPr marL="514350" marR="0" lvl="0" indent="-514350" defTabSz="914400" eaLnBrk="1" fontAlgn="auto" latinLnBrk="0" hangingPunct="1">
              <a:lnSpc>
                <a:spcPct val="150000"/>
              </a:lnSpc>
              <a:spcBef>
                <a:spcPts val="0"/>
              </a:spcBef>
              <a:spcAft>
                <a:spcPts val="0"/>
              </a:spcAft>
              <a:buClrTx/>
              <a:buSzTx/>
              <a:buFont typeface="+mj-lt"/>
              <a:buAutoNum type="arabicPeriod"/>
              <a:tabLst/>
              <a:defRPr/>
            </a:pPr>
            <a:r>
              <a:rPr kumimoji="0" lang="en-US" sz="3200" b="0" i="0" u="none" strike="noStrike" kern="0" cap="none" spc="0" normalizeH="0" baseline="0" noProof="0" dirty="0" smtClean="0">
                <a:ln>
                  <a:noFill/>
                </a:ln>
                <a:solidFill>
                  <a:schemeClr val="tx1"/>
                </a:solidFill>
                <a:effectLst/>
                <a:uLnTx/>
                <a:uFillTx/>
                <a:latin typeface="Cambria" pitchFamily="18" charset="0"/>
                <a:ea typeface="Cambria" pitchFamily="18" charset="0"/>
                <a:cs typeface="+mn-cs"/>
              </a:rPr>
              <a:t>Validates factual correctness of the analysis</a:t>
            </a:r>
          </a:p>
          <a:p>
            <a:pPr marL="514350" marR="0" lvl="0" indent="-514350" defTabSz="914400" eaLnBrk="1" fontAlgn="auto" latinLnBrk="0" hangingPunct="1">
              <a:lnSpc>
                <a:spcPct val="150000"/>
              </a:lnSpc>
              <a:spcBef>
                <a:spcPts val="0"/>
              </a:spcBef>
              <a:spcAft>
                <a:spcPts val="0"/>
              </a:spcAft>
              <a:buClrTx/>
              <a:buSzTx/>
              <a:buFont typeface="+mj-lt"/>
              <a:buAutoNum type="arabicPeriod"/>
              <a:tabLst/>
              <a:defRPr/>
            </a:pPr>
            <a:r>
              <a:rPr kumimoji="0" lang="en-US" sz="3200" b="0" i="0" u="none" strike="noStrike" kern="0" cap="none" spc="0" normalizeH="0" baseline="0" noProof="0" dirty="0" smtClean="0">
                <a:ln>
                  <a:noFill/>
                </a:ln>
                <a:solidFill>
                  <a:schemeClr val="tx1"/>
                </a:solidFill>
                <a:effectLst/>
                <a:uLnTx/>
                <a:uFillTx/>
                <a:latin typeface="Cambria" pitchFamily="18" charset="0"/>
                <a:ea typeface="Cambria" pitchFamily="18" charset="0"/>
                <a:cs typeface="+mn-cs"/>
              </a:rPr>
              <a:t>Removes hallucinated or irrelevant content</a:t>
            </a:r>
          </a:p>
          <a:p>
            <a:pPr marR="0" lvl="0" defTabSz="914400" eaLnBrk="1" fontAlgn="auto" latinLnBrk="0" hangingPunct="1">
              <a:lnSpc>
                <a:spcPct val="100000"/>
              </a:lnSpc>
              <a:spcBef>
                <a:spcPts val="0"/>
              </a:spcBef>
              <a:spcAft>
                <a:spcPts val="0"/>
              </a:spcAft>
              <a:buClrTx/>
              <a:buSzTx/>
              <a:tabLst/>
              <a:defRPr/>
            </a:pPr>
            <a:endParaRPr kumimoji="0" lang="en-US" sz="3200" b="0" i="0" u="none" strike="noStrike" kern="0" cap="none" spc="0" normalizeH="0" baseline="0" noProof="0" dirty="0" smtClean="0">
              <a:ln>
                <a:noFill/>
              </a:ln>
              <a:solidFill>
                <a:schemeClr val="tx1"/>
              </a:solidFill>
              <a:effectLst/>
              <a:uLnTx/>
              <a:uFillTx/>
              <a:latin typeface="Cambria" pitchFamily="18" charset="0"/>
              <a:ea typeface="Cambria" pitchFamily="18" charset="0"/>
              <a:cs typeface="+mn-cs"/>
            </a:endParaRPr>
          </a:p>
          <a:p>
            <a:pPr marL="514350" marR="0" lvl="0" indent="-514350" defTabSz="914400" eaLnBrk="1" fontAlgn="auto" latinLnBrk="0" hangingPunct="1">
              <a:lnSpc>
                <a:spcPct val="100000"/>
              </a:lnSpc>
              <a:spcBef>
                <a:spcPts val="0"/>
              </a:spcBef>
              <a:spcAft>
                <a:spcPts val="0"/>
              </a:spcAft>
              <a:buClrTx/>
              <a:buSzTx/>
              <a:buFont typeface="+mj-lt"/>
              <a:buAutoNum type="arabicPeriod"/>
              <a:tabLst/>
              <a:defRPr/>
            </a:pPr>
            <a:endParaRPr kumimoji="0" lang="en-US" sz="3200" b="0" i="0" u="none" strike="noStrike" kern="0" cap="none" spc="0" normalizeH="0" baseline="0" noProof="0" dirty="0" smtClean="0">
              <a:ln>
                <a:noFill/>
              </a:ln>
              <a:solidFill>
                <a:schemeClr val="tx1"/>
              </a:solidFill>
              <a:effectLst/>
              <a:uLnTx/>
              <a:uFillTx/>
              <a:latin typeface="Cambria" pitchFamily="18" charset="0"/>
              <a:ea typeface="Cambria" pitchFamily="18" charset="0"/>
              <a:cs typeface="+mn-cs"/>
            </a:endParaRPr>
          </a:p>
          <a:p>
            <a:pPr marR="0" lvl="0" defTabSz="914400" eaLnBrk="1" fontAlgn="auto" latinLnBrk="0" hangingPunct="1">
              <a:lnSpc>
                <a:spcPct val="100000"/>
              </a:lnSpc>
              <a:spcBef>
                <a:spcPts val="0"/>
              </a:spcBef>
              <a:spcAft>
                <a:spcPts val="0"/>
              </a:spcAft>
              <a:buClrTx/>
              <a:buSzTx/>
              <a:tabLst/>
              <a:defRPr/>
            </a:pPr>
            <a:endParaRPr lang="en-US" sz="3200" dirty="0">
              <a:solidFill>
                <a:schemeClr val="tx1"/>
              </a:solidFill>
              <a:latin typeface="Cambria" pitchFamily="18" charset="0"/>
              <a:ea typeface="Cambria" pitchFamily="18" charset="0"/>
            </a:endParaRPr>
          </a:p>
        </p:txBody>
      </p:sp>
    </p:spTree>
    <p:extLst>
      <p:ext uri="{BB962C8B-B14F-4D97-AF65-F5344CB8AC3E}">
        <p14:creationId xmlns:p14="http://schemas.microsoft.com/office/powerpoint/2010/main" val="3032630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49616" y="9701847"/>
            <a:ext cx="3434079" cy="231474"/>
          </a:xfrm>
          <a:prstGeom prst="rect">
            <a:avLst/>
          </a:prstGeom>
        </p:spPr>
        <p:txBody>
          <a:bodyPr vert="horz" wrap="square" lIns="0" tIns="15875" rIns="0" bIns="0" rtlCol="0">
            <a:spAutoFit/>
          </a:bodyPr>
          <a:lstStyle/>
          <a:p>
            <a:pPr marL="12700">
              <a:lnSpc>
                <a:spcPct val="100000"/>
              </a:lnSpc>
              <a:spcBef>
                <a:spcPts val="125"/>
              </a:spcBef>
            </a:pPr>
            <a:r>
              <a:rPr sz="1400" dirty="0">
                <a:solidFill>
                  <a:schemeClr val="tx1"/>
                </a:solidFill>
                <a:latin typeface="Cambria"/>
                <a:cs typeface="Cambria"/>
              </a:rPr>
              <a:t>Department</a:t>
            </a:r>
            <a:r>
              <a:rPr sz="1400" spc="125" dirty="0">
                <a:solidFill>
                  <a:schemeClr val="tx1"/>
                </a:solidFill>
                <a:latin typeface="Cambria"/>
                <a:cs typeface="Cambria"/>
              </a:rPr>
              <a:t> </a:t>
            </a:r>
            <a:r>
              <a:rPr sz="1400" dirty="0">
                <a:solidFill>
                  <a:schemeClr val="tx1"/>
                </a:solidFill>
                <a:latin typeface="Cambria"/>
                <a:cs typeface="Cambria"/>
              </a:rPr>
              <a:t>of</a:t>
            </a:r>
            <a:r>
              <a:rPr sz="1400" spc="114" dirty="0">
                <a:solidFill>
                  <a:schemeClr val="tx1"/>
                </a:solidFill>
                <a:latin typeface="Cambria"/>
                <a:cs typeface="Cambria"/>
              </a:rPr>
              <a:t> </a:t>
            </a:r>
            <a:r>
              <a:rPr sz="1400" spc="70" dirty="0">
                <a:solidFill>
                  <a:schemeClr val="tx1"/>
                </a:solidFill>
                <a:latin typeface="Cambria"/>
                <a:cs typeface="Cambria"/>
              </a:rPr>
              <a:t>CSE(AI&amp;ML),</a:t>
            </a:r>
            <a:r>
              <a:rPr sz="1400" spc="75" dirty="0">
                <a:solidFill>
                  <a:schemeClr val="tx1"/>
                </a:solidFill>
                <a:latin typeface="Cambria"/>
                <a:cs typeface="Cambria"/>
              </a:rPr>
              <a:t> </a:t>
            </a:r>
            <a:r>
              <a:rPr sz="1400" spc="114" dirty="0">
                <a:solidFill>
                  <a:schemeClr val="tx1"/>
                </a:solidFill>
                <a:latin typeface="Cambria"/>
                <a:cs typeface="Cambria"/>
              </a:rPr>
              <a:t>MCE,</a:t>
            </a:r>
            <a:r>
              <a:rPr sz="1400" spc="165" dirty="0">
                <a:solidFill>
                  <a:schemeClr val="tx1"/>
                </a:solidFill>
                <a:latin typeface="Cambria"/>
                <a:cs typeface="Cambria"/>
              </a:rPr>
              <a:t> </a:t>
            </a:r>
            <a:r>
              <a:rPr sz="1400" spc="-10" dirty="0">
                <a:solidFill>
                  <a:schemeClr val="tx1"/>
                </a:solidFill>
                <a:latin typeface="Cambria"/>
                <a:cs typeface="Cambria"/>
              </a:rPr>
              <a:t>Hassan</a:t>
            </a:r>
            <a:endParaRPr sz="1400">
              <a:solidFill>
                <a:schemeClr val="tx1"/>
              </a:solidFill>
              <a:latin typeface="Cambria"/>
              <a:cs typeface="Cambria"/>
            </a:endParaRPr>
          </a:p>
        </p:txBody>
      </p:sp>
      <p:sp>
        <p:nvSpPr>
          <p:cNvPr id="4" name="AutoShape 5">
            <a:extLst>
              <a:ext uri="{FF2B5EF4-FFF2-40B4-BE49-F238E27FC236}">
                <a16:creationId xmlns:a16="http://schemas.microsoft.com/office/drawing/2014/main" xmlns="" id="{309BA03E-CA11-4CC8-BD51-7B70D917BC53}"/>
              </a:ext>
            </a:extLst>
          </p:cNvPr>
          <p:cNvSpPr/>
          <p:nvPr/>
        </p:nvSpPr>
        <p:spPr>
          <a:xfrm>
            <a:off x="0" y="9419765"/>
            <a:ext cx="18288000" cy="0"/>
          </a:xfrm>
          <a:prstGeom prst="line">
            <a:avLst/>
          </a:prstGeom>
          <a:ln w="9525" cap="flat">
            <a:solidFill>
              <a:srgbClr val="23593E"/>
            </a:solidFill>
            <a:prstDash val="solid"/>
            <a:headEnd type="none" w="sm" len="sm"/>
            <a:tailEnd type="none" w="sm" len="sm"/>
          </a:ln>
        </p:spPr>
      </p:sp>
      <p:sp>
        <p:nvSpPr>
          <p:cNvPr id="5" name="Rectangle 4"/>
          <p:cNvSpPr/>
          <p:nvPr/>
        </p:nvSpPr>
        <p:spPr>
          <a:xfrm>
            <a:off x="381000" y="713164"/>
            <a:ext cx="8915400" cy="1015663"/>
          </a:xfrm>
          <a:prstGeom prst="rect">
            <a:avLst/>
          </a:prstGeom>
        </p:spPr>
        <p:txBody>
          <a:bodyPr wrap="square">
            <a:spAutoFit/>
          </a:bodyPr>
          <a:lstStyle/>
          <a:p>
            <a:r>
              <a:rPr lang="en-US" sz="6000" dirty="0" smtClean="0">
                <a:solidFill>
                  <a:schemeClr val="accent2">
                    <a:lumMod val="75000"/>
                  </a:schemeClr>
                </a:solidFill>
                <a:latin typeface="Arial Black" pitchFamily="34" charset="0"/>
              </a:rPr>
              <a:t>Memory System</a:t>
            </a:r>
            <a:endParaRPr lang="en-IN" sz="6000" dirty="0">
              <a:solidFill>
                <a:schemeClr val="accent2">
                  <a:lumMod val="75000"/>
                </a:schemeClr>
              </a:solidFill>
              <a:latin typeface="Arial Black" pitchFamily="34" charset="0"/>
            </a:endParaRPr>
          </a:p>
        </p:txBody>
      </p:sp>
      <p:sp>
        <p:nvSpPr>
          <p:cNvPr id="10" name="TextBox 9"/>
          <p:cNvSpPr txBox="1"/>
          <p:nvPr/>
        </p:nvSpPr>
        <p:spPr>
          <a:xfrm>
            <a:off x="381000" y="2476499"/>
            <a:ext cx="7239000" cy="6217087"/>
          </a:xfrm>
          <a:prstGeom prst="rect">
            <a:avLst/>
          </a:prstGeom>
          <a:noFill/>
        </p:spPr>
        <p:txBody>
          <a:bodyPr wrap="square" rtlCol="0">
            <a:spAutoFit/>
          </a:bodyPr>
          <a:lstStyle/>
          <a:p>
            <a:pPr marL="742950" indent="-742950">
              <a:lnSpc>
                <a:spcPct val="150000"/>
              </a:lnSpc>
              <a:buFont typeface="+mj-lt"/>
              <a:buAutoNum type="arabicPeriod"/>
            </a:pPr>
            <a:r>
              <a:rPr lang="en-US" sz="3600" dirty="0" smtClean="0">
                <a:latin typeface="Cambria" pitchFamily="18" charset="0"/>
                <a:ea typeface="Cambria" pitchFamily="18" charset="0"/>
              </a:rPr>
              <a:t>Uses Pinecone vector database</a:t>
            </a:r>
          </a:p>
          <a:p>
            <a:pPr marL="742950" indent="-742950">
              <a:lnSpc>
                <a:spcPct val="150000"/>
              </a:lnSpc>
              <a:buFont typeface="+mj-lt"/>
              <a:buAutoNum type="arabicPeriod"/>
            </a:pPr>
            <a:r>
              <a:rPr lang="en-US" sz="3600" dirty="0" err="1" smtClean="0">
                <a:latin typeface="Cambria" pitchFamily="18" charset="0"/>
                <a:ea typeface="Cambria" pitchFamily="18" charset="0"/>
              </a:rPr>
              <a:t>SentenceTransformers</a:t>
            </a:r>
            <a:r>
              <a:rPr lang="en-US" sz="3600" dirty="0" smtClean="0">
                <a:latin typeface="Cambria" pitchFamily="18" charset="0"/>
                <a:ea typeface="Cambria" pitchFamily="18" charset="0"/>
              </a:rPr>
              <a:t> generate semantic </a:t>
            </a:r>
            <a:r>
              <a:rPr lang="en-US" sz="3600" dirty="0" err="1" smtClean="0">
                <a:latin typeface="Cambria" pitchFamily="18" charset="0"/>
                <a:ea typeface="Cambria" pitchFamily="18" charset="0"/>
              </a:rPr>
              <a:t>embeddings</a:t>
            </a:r>
            <a:endParaRPr lang="en-US" sz="3600" dirty="0" smtClean="0">
              <a:latin typeface="Cambria" pitchFamily="18" charset="0"/>
              <a:ea typeface="Cambria" pitchFamily="18" charset="0"/>
            </a:endParaRPr>
          </a:p>
          <a:p>
            <a:pPr marL="742950" indent="-742950">
              <a:lnSpc>
                <a:spcPct val="150000"/>
              </a:lnSpc>
              <a:buFont typeface="+mj-lt"/>
              <a:buAutoNum type="arabicPeriod"/>
            </a:pPr>
            <a:r>
              <a:rPr lang="en-US" sz="3600" dirty="0" smtClean="0">
                <a:latin typeface="Cambria" pitchFamily="18" charset="0"/>
                <a:ea typeface="Cambria" pitchFamily="18" charset="0"/>
              </a:rPr>
              <a:t>Stores only verified research insights</a:t>
            </a:r>
            <a:endParaRPr lang="en-US" sz="3600" dirty="0">
              <a:latin typeface="Cambria" pitchFamily="18" charset="0"/>
              <a:ea typeface="Cambria" pitchFamily="18" charset="0"/>
            </a:endParaRPr>
          </a:p>
          <a:p>
            <a:endParaRPr lang="en-US" sz="3600" dirty="0" smtClean="0">
              <a:latin typeface="Cambria" pitchFamily="18" charset="0"/>
              <a:ea typeface="Cambria" pitchFamily="18" charset="0"/>
            </a:endParaRPr>
          </a:p>
          <a:p>
            <a:r>
              <a:rPr lang="en-US" sz="2800" dirty="0" smtClean="0"/>
              <a:t>This enables long-term learning and reuse of knowledge.</a:t>
            </a:r>
          </a:p>
          <a:p>
            <a:pPr marL="285750" indent="-285750">
              <a:buFont typeface="Wingdings" pitchFamily="2" charset="2"/>
              <a:buChar char="Ø"/>
            </a:pPr>
            <a:endParaRPr lang="en-IN" dirty="0"/>
          </a:p>
          <a:p>
            <a:pPr marL="285750" indent="-285750">
              <a:buFont typeface="Wingdings" pitchFamily="2" charset="2"/>
              <a:buChar char="Ø"/>
            </a:pPr>
            <a:endParaRPr lang="en-IN" dirty="0"/>
          </a:p>
        </p:txBody>
      </p:sp>
      <p:sp>
        <p:nvSpPr>
          <p:cNvPr id="12" name="object 5">
            <a:extLst>
              <a:ext uri="{FF2B5EF4-FFF2-40B4-BE49-F238E27FC236}">
                <a16:creationId xmlns:a16="http://schemas.microsoft.com/office/drawing/2014/main" xmlns="" id="{C1E26880-FAD8-4D8B-8F90-B6FD6B25CB8F}"/>
              </a:ext>
            </a:extLst>
          </p:cNvPr>
          <p:cNvSpPr txBox="1">
            <a:spLocks noGrp="1"/>
          </p:cNvSpPr>
          <p:nvPr>
            <p:ph type="sldNum" sz="quarter" idx="7"/>
          </p:nvPr>
        </p:nvSpPr>
        <p:spPr>
          <a:xfrm>
            <a:off x="17173956" y="9723745"/>
            <a:ext cx="215900" cy="189796"/>
          </a:xfrm>
          <a:prstGeom prst="rect">
            <a:avLst/>
          </a:prstGeom>
        </p:spPr>
        <p:txBody>
          <a:bodyPr vert="horz" wrap="square" lIns="0" tIns="5080" rIns="0" bIns="0" rtlCol="0">
            <a:spAutoFit/>
          </a:bodyPr>
          <a:lstStyle/>
          <a:p>
            <a:pPr marL="12700">
              <a:lnSpc>
                <a:spcPct val="100000"/>
              </a:lnSpc>
              <a:spcBef>
                <a:spcPts val="40"/>
              </a:spcBef>
            </a:pPr>
            <a:r>
              <a:rPr lang="en-US" spc="-25" dirty="0">
                <a:solidFill>
                  <a:schemeClr val="tx1"/>
                </a:solidFill>
              </a:rPr>
              <a:t>9</a:t>
            </a:r>
            <a:endParaRPr spc="-25" dirty="0">
              <a:solidFill>
                <a:schemeClr val="tx1"/>
              </a:solidFill>
            </a:endParaRPr>
          </a:p>
        </p:txBody>
      </p:sp>
      <p:sp>
        <p:nvSpPr>
          <p:cNvPr id="14" name="object 5">
            <a:extLst>
              <a:ext uri="{FF2B5EF4-FFF2-40B4-BE49-F238E27FC236}">
                <a16:creationId xmlns:a16="http://schemas.microsoft.com/office/drawing/2014/main" xmlns="" id="{B6D4875B-76A2-46AD-A746-0EA0C3D174F3}"/>
              </a:ext>
            </a:extLst>
          </p:cNvPr>
          <p:cNvSpPr txBox="1">
            <a:spLocks noGrp="1"/>
          </p:cNvSpPr>
          <p:nvPr>
            <p:ph type="dt" sz="half" idx="6"/>
          </p:nvPr>
        </p:nvSpPr>
        <p:spPr>
          <a:xfrm>
            <a:off x="917575" y="9729254"/>
            <a:ext cx="864235" cy="223138"/>
          </a:xfrm>
          <a:prstGeom prst="rect">
            <a:avLst/>
          </a:prstGeom>
        </p:spPr>
        <p:txBody>
          <a:bodyPr vert="horz" wrap="square" lIns="0" tIns="7620" rIns="0" bIns="0" rtlCol="0">
            <a:spAutoFit/>
          </a:bodyPr>
          <a:lstStyle/>
          <a:p>
            <a:pPr marL="12700">
              <a:lnSpc>
                <a:spcPct val="100000"/>
              </a:lnSpc>
              <a:spcBef>
                <a:spcPts val="60"/>
              </a:spcBef>
            </a:pPr>
            <a:r>
              <a:rPr lang="en-US" spc="-10" dirty="0" smtClean="0">
                <a:solidFill>
                  <a:schemeClr val="tx1"/>
                </a:solidFill>
              </a:rPr>
              <a:t>31</a:t>
            </a:r>
            <a:r>
              <a:rPr spc="-10" dirty="0" smtClean="0">
                <a:solidFill>
                  <a:schemeClr val="tx1"/>
                </a:solidFill>
              </a:rPr>
              <a:t>-</a:t>
            </a:r>
            <a:r>
              <a:rPr lang="en-US" spc="-10" dirty="0">
                <a:solidFill>
                  <a:schemeClr val="tx1"/>
                </a:solidFill>
              </a:rPr>
              <a:t>12</a:t>
            </a:r>
            <a:r>
              <a:rPr spc="-10" dirty="0">
                <a:solidFill>
                  <a:schemeClr val="tx1"/>
                </a:solidFill>
              </a:rPr>
              <a:t>-</a:t>
            </a:r>
            <a:r>
              <a:rPr spc="-20" dirty="0">
                <a:solidFill>
                  <a:schemeClr val="tx1"/>
                </a:solidFill>
              </a:rPr>
              <a:t>2025</a:t>
            </a:r>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1824"/>
          <a:stretch/>
        </p:blipFill>
        <p:spPr bwMode="auto">
          <a:xfrm>
            <a:off x="7849616" y="745202"/>
            <a:ext cx="9806216" cy="7971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49616" y="9701847"/>
            <a:ext cx="3434079" cy="231474"/>
          </a:xfrm>
          <a:prstGeom prst="rect">
            <a:avLst/>
          </a:prstGeom>
        </p:spPr>
        <p:txBody>
          <a:bodyPr vert="horz" wrap="square" lIns="0" tIns="15875" rIns="0" bIns="0" rtlCol="0">
            <a:spAutoFit/>
          </a:bodyPr>
          <a:lstStyle/>
          <a:p>
            <a:pPr marL="12700">
              <a:lnSpc>
                <a:spcPct val="100000"/>
              </a:lnSpc>
              <a:spcBef>
                <a:spcPts val="125"/>
              </a:spcBef>
            </a:pPr>
            <a:r>
              <a:rPr sz="1400" dirty="0">
                <a:solidFill>
                  <a:schemeClr val="tx1"/>
                </a:solidFill>
                <a:latin typeface="Cambria"/>
                <a:cs typeface="Cambria"/>
              </a:rPr>
              <a:t>Department</a:t>
            </a:r>
            <a:r>
              <a:rPr sz="1400" spc="125" dirty="0">
                <a:solidFill>
                  <a:schemeClr val="tx1"/>
                </a:solidFill>
                <a:latin typeface="Cambria"/>
                <a:cs typeface="Cambria"/>
              </a:rPr>
              <a:t> </a:t>
            </a:r>
            <a:r>
              <a:rPr sz="1400" dirty="0">
                <a:solidFill>
                  <a:schemeClr val="tx1"/>
                </a:solidFill>
                <a:latin typeface="Cambria"/>
                <a:cs typeface="Cambria"/>
              </a:rPr>
              <a:t>of</a:t>
            </a:r>
            <a:r>
              <a:rPr sz="1400" spc="114" dirty="0">
                <a:solidFill>
                  <a:schemeClr val="tx1"/>
                </a:solidFill>
                <a:latin typeface="Cambria"/>
                <a:cs typeface="Cambria"/>
              </a:rPr>
              <a:t> </a:t>
            </a:r>
            <a:r>
              <a:rPr sz="1400" spc="70" dirty="0">
                <a:solidFill>
                  <a:schemeClr val="tx1"/>
                </a:solidFill>
                <a:latin typeface="Cambria"/>
                <a:cs typeface="Cambria"/>
              </a:rPr>
              <a:t>CSE(AI&amp;ML),</a:t>
            </a:r>
            <a:r>
              <a:rPr sz="1400" spc="75" dirty="0">
                <a:solidFill>
                  <a:schemeClr val="tx1"/>
                </a:solidFill>
                <a:latin typeface="Cambria"/>
                <a:cs typeface="Cambria"/>
              </a:rPr>
              <a:t> </a:t>
            </a:r>
            <a:r>
              <a:rPr sz="1400" spc="114" dirty="0">
                <a:solidFill>
                  <a:schemeClr val="tx1"/>
                </a:solidFill>
                <a:latin typeface="Cambria"/>
                <a:cs typeface="Cambria"/>
              </a:rPr>
              <a:t>MCE,</a:t>
            </a:r>
            <a:r>
              <a:rPr sz="1400" spc="165" dirty="0">
                <a:solidFill>
                  <a:schemeClr val="tx1"/>
                </a:solidFill>
                <a:latin typeface="Cambria"/>
                <a:cs typeface="Cambria"/>
              </a:rPr>
              <a:t> </a:t>
            </a:r>
            <a:r>
              <a:rPr sz="1400" spc="-10" dirty="0">
                <a:solidFill>
                  <a:schemeClr val="tx1"/>
                </a:solidFill>
                <a:latin typeface="Cambria"/>
                <a:cs typeface="Cambria"/>
              </a:rPr>
              <a:t>Hassan</a:t>
            </a:r>
            <a:endParaRPr sz="1400">
              <a:solidFill>
                <a:schemeClr val="tx1"/>
              </a:solidFill>
              <a:latin typeface="Cambria"/>
              <a:cs typeface="Cambria"/>
            </a:endParaRPr>
          </a:p>
        </p:txBody>
      </p:sp>
      <p:sp>
        <p:nvSpPr>
          <p:cNvPr id="4" name="AutoShape 5">
            <a:extLst>
              <a:ext uri="{FF2B5EF4-FFF2-40B4-BE49-F238E27FC236}">
                <a16:creationId xmlns:a16="http://schemas.microsoft.com/office/drawing/2014/main" xmlns="" id="{309BA03E-CA11-4CC8-BD51-7B70D917BC53}"/>
              </a:ext>
            </a:extLst>
          </p:cNvPr>
          <p:cNvSpPr/>
          <p:nvPr/>
        </p:nvSpPr>
        <p:spPr>
          <a:xfrm>
            <a:off x="0" y="9419765"/>
            <a:ext cx="18288000" cy="0"/>
          </a:xfrm>
          <a:prstGeom prst="line">
            <a:avLst/>
          </a:prstGeom>
          <a:ln w="9525" cap="flat">
            <a:solidFill>
              <a:srgbClr val="23593E"/>
            </a:solidFill>
            <a:prstDash val="solid"/>
            <a:headEnd type="none" w="sm" len="sm"/>
            <a:tailEnd type="none" w="sm" len="sm"/>
          </a:ln>
        </p:spPr>
      </p:sp>
      <p:sp>
        <p:nvSpPr>
          <p:cNvPr id="5" name="Rectangle 4"/>
          <p:cNvSpPr/>
          <p:nvPr/>
        </p:nvSpPr>
        <p:spPr>
          <a:xfrm>
            <a:off x="4686300" y="853440"/>
            <a:ext cx="8915400" cy="1200329"/>
          </a:xfrm>
          <a:prstGeom prst="rect">
            <a:avLst/>
          </a:prstGeom>
        </p:spPr>
        <p:txBody>
          <a:bodyPr wrap="square">
            <a:spAutoFit/>
          </a:bodyPr>
          <a:lstStyle/>
          <a:p>
            <a:pPr algn="ctr"/>
            <a:r>
              <a:rPr lang="en-US" sz="7200" dirty="0" smtClean="0">
                <a:solidFill>
                  <a:schemeClr val="accent2">
                    <a:lumMod val="75000"/>
                  </a:schemeClr>
                </a:solidFill>
                <a:latin typeface="Arial Black" pitchFamily="34" charset="0"/>
              </a:rPr>
              <a:t>Technology</a:t>
            </a:r>
            <a:r>
              <a:rPr lang="en-US" sz="6000" dirty="0" smtClean="0">
                <a:solidFill>
                  <a:schemeClr val="accent2">
                    <a:lumMod val="75000"/>
                  </a:schemeClr>
                </a:solidFill>
                <a:latin typeface="Arial Black" pitchFamily="34" charset="0"/>
              </a:rPr>
              <a:t> Stack</a:t>
            </a:r>
            <a:endParaRPr lang="en-IN" sz="6000" dirty="0">
              <a:solidFill>
                <a:schemeClr val="accent2">
                  <a:lumMod val="75000"/>
                </a:schemeClr>
              </a:solidFill>
              <a:latin typeface="Arial Black" pitchFamily="34" charset="0"/>
            </a:endParaRPr>
          </a:p>
        </p:txBody>
      </p:sp>
      <p:sp>
        <p:nvSpPr>
          <p:cNvPr id="10" name="TextBox 9"/>
          <p:cNvSpPr txBox="1"/>
          <p:nvPr/>
        </p:nvSpPr>
        <p:spPr>
          <a:xfrm>
            <a:off x="4419600" y="2523526"/>
            <a:ext cx="13030200" cy="6863417"/>
          </a:xfrm>
          <a:prstGeom prst="rect">
            <a:avLst/>
          </a:prstGeom>
          <a:noFill/>
        </p:spPr>
        <p:txBody>
          <a:bodyPr wrap="square" rtlCol="0">
            <a:spAutoFit/>
          </a:bodyPr>
          <a:lstStyle/>
          <a:p>
            <a:pPr>
              <a:lnSpc>
                <a:spcPct val="150000"/>
              </a:lnSpc>
            </a:pPr>
            <a:r>
              <a:rPr lang="en-IN" sz="4000" b="1" dirty="0" smtClean="0">
                <a:solidFill>
                  <a:schemeClr val="accent2"/>
                </a:solidFill>
                <a:latin typeface="Cambria" pitchFamily="18" charset="0"/>
                <a:ea typeface="Cambria" pitchFamily="18" charset="0"/>
              </a:rPr>
              <a:t>Frontend:</a:t>
            </a:r>
            <a:r>
              <a:rPr lang="en-IN" sz="4000" dirty="0" smtClean="0">
                <a:solidFill>
                  <a:schemeClr val="accent2"/>
                </a:solidFill>
                <a:latin typeface="Cambria" pitchFamily="18" charset="0"/>
                <a:ea typeface="Cambria" pitchFamily="18" charset="0"/>
              </a:rPr>
              <a:t> </a:t>
            </a:r>
            <a:r>
              <a:rPr lang="en-IN" sz="4000" dirty="0" err="1" smtClean="0">
                <a:latin typeface="Cambria" pitchFamily="18" charset="0"/>
                <a:ea typeface="Cambria" pitchFamily="18" charset="0"/>
              </a:rPr>
              <a:t>Streamlit</a:t>
            </a:r>
            <a:endParaRPr lang="en-IN" sz="4000" dirty="0" smtClean="0">
              <a:latin typeface="Cambria" pitchFamily="18" charset="0"/>
              <a:ea typeface="Cambria" pitchFamily="18" charset="0"/>
            </a:endParaRPr>
          </a:p>
          <a:p>
            <a:pPr>
              <a:lnSpc>
                <a:spcPct val="150000"/>
              </a:lnSpc>
            </a:pPr>
            <a:r>
              <a:rPr lang="en-IN" sz="4000" b="1" dirty="0" smtClean="0">
                <a:solidFill>
                  <a:schemeClr val="accent2"/>
                </a:solidFill>
                <a:latin typeface="Cambria" pitchFamily="18" charset="0"/>
                <a:ea typeface="Cambria" pitchFamily="18" charset="0"/>
              </a:rPr>
              <a:t>Agent Orchestration:</a:t>
            </a:r>
            <a:r>
              <a:rPr lang="en-IN" sz="4000" dirty="0" smtClean="0">
                <a:latin typeface="Cambria" pitchFamily="18" charset="0"/>
                <a:ea typeface="Cambria" pitchFamily="18" charset="0"/>
              </a:rPr>
              <a:t> </a:t>
            </a:r>
            <a:r>
              <a:rPr lang="en-IN" sz="4000" dirty="0" err="1" smtClean="0">
                <a:latin typeface="Cambria" pitchFamily="18" charset="0"/>
                <a:ea typeface="Cambria" pitchFamily="18" charset="0"/>
              </a:rPr>
              <a:t>LangGraph</a:t>
            </a:r>
            <a:endParaRPr lang="en-IN" sz="4000" dirty="0" smtClean="0">
              <a:latin typeface="Cambria" pitchFamily="18" charset="0"/>
              <a:ea typeface="Cambria" pitchFamily="18" charset="0"/>
            </a:endParaRPr>
          </a:p>
          <a:p>
            <a:pPr>
              <a:lnSpc>
                <a:spcPct val="150000"/>
              </a:lnSpc>
            </a:pPr>
            <a:r>
              <a:rPr lang="en-IN" sz="4000" b="1" dirty="0" smtClean="0">
                <a:solidFill>
                  <a:schemeClr val="accent2"/>
                </a:solidFill>
                <a:latin typeface="Cambria" pitchFamily="18" charset="0"/>
                <a:ea typeface="Cambria" pitchFamily="18" charset="0"/>
              </a:rPr>
              <a:t>Language Model:</a:t>
            </a:r>
            <a:r>
              <a:rPr lang="en-IN" sz="4000" dirty="0" smtClean="0">
                <a:solidFill>
                  <a:schemeClr val="accent2"/>
                </a:solidFill>
                <a:latin typeface="Cambria" pitchFamily="18" charset="0"/>
                <a:ea typeface="Cambria" pitchFamily="18" charset="0"/>
              </a:rPr>
              <a:t> </a:t>
            </a:r>
            <a:r>
              <a:rPr lang="en-IN" sz="4000" dirty="0" smtClean="0">
                <a:latin typeface="Cambria" pitchFamily="18" charset="0"/>
                <a:ea typeface="Cambria" pitchFamily="18" charset="0"/>
              </a:rPr>
              <a:t>LLaMA-3.1-8B (via </a:t>
            </a:r>
            <a:r>
              <a:rPr lang="en-IN" sz="4000" dirty="0" err="1" smtClean="0">
                <a:latin typeface="Cambria" pitchFamily="18" charset="0"/>
                <a:ea typeface="Cambria" pitchFamily="18" charset="0"/>
              </a:rPr>
              <a:t>Groq</a:t>
            </a:r>
            <a:r>
              <a:rPr lang="en-IN" sz="4000" dirty="0" smtClean="0">
                <a:latin typeface="Cambria" pitchFamily="18" charset="0"/>
                <a:ea typeface="Cambria" pitchFamily="18" charset="0"/>
              </a:rPr>
              <a:t> API)</a:t>
            </a:r>
          </a:p>
          <a:p>
            <a:pPr>
              <a:lnSpc>
                <a:spcPct val="150000"/>
              </a:lnSpc>
            </a:pPr>
            <a:r>
              <a:rPr lang="en-IN" sz="4000" b="1" dirty="0" smtClean="0">
                <a:solidFill>
                  <a:schemeClr val="accent2"/>
                </a:solidFill>
                <a:latin typeface="Cambria" pitchFamily="18" charset="0"/>
                <a:ea typeface="Cambria" pitchFamily="18" charset="0"/>
              </a:rPr>
              <a:t>Knowledge Source:</a:t>
            </a:r>
            <a:r>
              <a:rPr lang="en-IN" sz="4000" dirty="0" smtClean="0">
                <a:solidFill>
                  <a:schemeClr val="accent2"/>
                </a:solidFill>
                <a:latin typeface="Cambria" pitchFamily="18" charset="0"/>
                <a:ea typeface="Cambria" pitchFamily="18" charset="0"/>
              </a:rPr>
              <a:t> </a:t>
            </a:r>
            <a:r>
              <a:rPr lang="en-IN" sz="4000" dirty="0" err="1" smtClean="0">
                <a:latin typeface="Cambria" pitchFamily="18" charset="0"/>
                <a:ea typeface="Cambria" pitchFamily="18" charset="0"/>
              </a:rPr>
              <a:t>arXiv</a:t>
            </a:r>
            <a:r>
              <a:rPr lang="en-IN" sz="4000" dirty="0" smtClean="0">
                <a:latin typeface="Cambria" pitchFamily="18" charset="0"/>
                <a:ea typeface="Cambria" pitchFamily="18" charset="0"/>
              </a:rPr>
              <a:t> API</a:t>
            </a:r>
          </a:p>
          <a:p>
            <a:pPr>
              <a:lnSpc>
                <a:spcPct val="150000"/>
              </a:lnSpc>
            </a:pPr>
            <a:r>
              <a:rPr lang="en-IN" sz="4000" b="1" dirty="0" smtClean="0">
                <a:solidFill>
                  <a:schemeClr val="accent2"/>
                </a:solidFill>
                <a:latin typeface="Cambria" pitchFamily="18" charset="0"/>
                <a:ea typeface="Cambria" pitchFamily="18" charset="0"/>
              </a:rPr>
              <a:t>Vector Database:</a:t>
            </a:r>
            <a:r>
              <a:rPr lang="en-IN" sz="4000" dirty="0" smtClean="0">
                <a:solidFill>
                  <a:schemeClr val="accent2"/>
                </a:solidFill>
                <a:latin typeface="Cambria" pitchFamily="18" charset="0"/>
                <a:ea typeface="Cambria" pitchFamily="18" charset="0"/>
              </a:rPr>
              <a:t> </a:t>
            </a:r>
            <a:r>
              <a:rPr lang="en-IN" sz="4000" dirty="0" smtClean="0">
                <a:latin typeface="Cambria" pitchFamily="18" charset="0"/>
                <a:ea typeface="Cambria" pitchFamily="18" charset="0"/>
              </a:rPr>
              <a:t>Pinecone</a:t>
            </a:r>
          </a:p>
          <a:p>
            <a:pPr>
              <a:lnSpc>
                <a:spcPct val="150000"/>
              </a:lnSpc>
            </a:pPr>
            <a:r>
              <a:rPr lang="en-IN" sz="4000" b="1" dirty="0" err="1" smtClean="0">
                <a:solidFill>
                  <a:schemeClr val="accent2"/>
                </a:solidFill>
                <a:latin typeface="Cambria" pitchFamily="18" charset="0"/>
                <a:ea typeface="Cambria" pitchFamily="18" charset="0"/>
              </a:rPr>
              <a:t>Embeddings</a:t>
            </a:r>
            <a:r>
              <a:rPr lang="en-IN" sz="4000" b="1" dirty="0" smtClean="0">
                <a:solidFill>
                  <a:schemeClr val="accent2"/>
                </a:solidFill>
                <a:latin typeface="Cambria" pitchFamily="18" charset="0"/>
                <a:ea typeface="Cambria" pitchFamily="18" charset="0"/>
              </a:rPr>
              <a:t>:</a:t>
            </a:r>
            <a:r>
              <a:rPr lang="en-IN" sz="4000" dirty="0" smtClean="0">
                <a:solidFill>
                  <a:schemeClr val="accent2"/>
                </a:solidFill>
                <a:latin typeface="Cambria" pitchFamily="18" charset="0"/>
                <a:ea typeface="Cambria" pitchFamily="18" charset="0"/>
              </a:rPr>
              <a:t> </a:t>
            </a:r>
            <a:r>
              <a:rPr lang="en-IN" sz="4000" dirty="0" err="1" smtClean="0">
                <a:latin typeface="Cambria" pitchFamily="18" charset="0"/>
                <a:ea typeface="Cambria" pitchFamily="18" charset="0"/>
              </a:rPr>
              <a:t>SentenceTransformers</a:t>
            </a:r>
            <a:endParaRPr lang="en-IN" sz="4000" dirty="0" smtClean="0">
              <a:latin typeface="Cambria" pitchFamily="18" charset="0"/>
              <a:ea typeface="Cambria" pitchFamily="18" charset="0"/>
            </a:endParaRPr>
          </a:p>
          <a:p>
            <a:pPr>
              <a:lnSpc>
                <a:spcPct val="150000"/>
              </a:lnSpc>
            </a:pPr>
            <a:endParaRPr lang="en-US" sz="2800" dirty="0" smtClean="0"/>
          </a:p>
          <a:p>
            <a:pPr marL="285750" indent="-285750">
              <a:buFont typeface="Wingdings" pitchFamily="2" charset="2"/>
              <a:buChar char="Ø"/>
            </a:pPr>
            <a:endParaRPr lang="en-IN" sz="2000" dirty="0"/>
          </a:p>
          <a:p>
            <a:pPr marL="285750" indent="-285750">
              <a:buFont typeface="Wingdings" pitchFamily="2" charset="2"/>
              <a:buChar char="Ø"/>
            </a:pPr>
            <a:endParaRPr lang="en-IN" dirty="0"/>
          </a:p>
        </p:txBody>
      </p:sp>
      <p:sp>
        <p:nvSpPr>
          <p:cNvPr id="12" name="object 5">
            <a:extLst>
              <a:ext uri="{FF2B5EF4-FFF2-40B4-BE49-F238E27FC236}">
                <a16:creationId xmlns:a16="http://schemas.microsoft.com/office/drawing/2014/main" xmlns="" id="{C1E26880-FAD8-4D8B-8F90-B6FD6B25CB8F}"/>
              </a:ext>
            </a:extLst>
          </p:cNvPr>
          <p:cNvSpPr txBox="1">
            <a:spLocks noGrp="1"/>
          </p:cNvSpPr>
          <p:nvPr>
            <p:ph type="sldNum" sz="quarter" idx="7"/>
          </p:nvPr>
        </p:nvSpPr>
        <p:spPr>
          <a:xfrm>
            <a:off x="17173956" y="9723745"/>
            <a:ext cx="215900" cy="189796"/>
          </a:xfrm>
          <a:prstGeom prst="rect">
            <a:avLst/>
          </a:prstGeom>
        </p:spPr>
        <p:txBody>
          <a:bodyPr vert="horz" wrap="square" lIns="0" tIns="5080" rIns="0" bIns="0" rtlCol="0">
            <a:spAutoFit/>
          </a:bodyPr>
          <a:lstStyle/>
          <a:p>
            <a:pPr marL="12700">
              <a:lnSpc>
                <a:spcPct val="100000"/>
              </a:lnSpc>
              <a:spcBef>
                <a:spcPts val="40"/>
              </a:spcBef>
            </a:pPr>
            <a:r>
              <a:rPr spc="-25" dirty="0" smtClean="0">
                <a:solidFill>
                  <a:schemeClr val="tx1"/>
                </a:solidFill>
              </a:rPr>
              <a:t>1</a:t>
            </a:r>
            <a:r>
              <a:rPr lang="en-US" spc="-25" dirty="0">
                <a:solidFill>
                  <a:schemeClr val="tx1"/>
                </a:solidFill>
              </a:rPr>
              <a:t>0</a:t>
            </a:r>
            <a:endParaRPr spc="-25" dirty="0">
              <a:solidFill>
                <a:schemeClr val="tx1"/>
              </a:solidFill>
            </a:endParaRPr>
          </a:p>
        </p:txBody>
      </p:sp>
      <p:sp>
        <p:nvSpPr>
          <p:cNvPr id="14" name="object 5">
            <a:extLst>
              <a:ext uri="{FF2B5EF4-FFF2-40B4-BE49-F238E27FC236}">
                <a16:creationId xmlns:a16="http://schemas.microsoft.com/office/drawing/2014/main" xmlns="" id="{B6D4875B-76A2-46AD-A746-0EA0C3D174F3}"/>
              </a:ext>
            </a:extLst>
          </p:cNvPr>
          <p:cNvSpPr txBox="1">
            <a:spLocks noGrp="1"/>
          </p:cNvSpPr>
          <p:nvPr>
            <p:ph type="dt" sz="half" idx="6"/>
          </p:nvPr>
        </p:nvSpPr>
        <p:spPr>
          <a:xfrm>
            <a:off x="917575" y="9729254"/>
            <a:ext cx="864235" cy="223138"/>
          </a:xfrm>
          <a:prstGeom prst="rect">
            <a:avLst/>
          </a:prstGeom>
        </p:spPr>
        <p:txBody>
          <a:bodyPr vert="horz" wrap="square" lIns="0" tIns="7620" rIns="0" bIns="0" rtlCol="0">
            <a:spAutoFit/>
          </a:bodyPr>
          <a:lstStyle/>
          <a:p>
            <a:pPr marL="12700">
              <a:lnSpc>
                <a:spcPct val="100000"/>
              </a:lnSpc>
              <a:spcBef>
                <a:spcPts val="60"/>
              </a:spcBef>
            </a:pPr>
            <a:r>
              <a:rPr lang="en-US" spc="-10" dirty="0" smtClean="0">
                <a:solidFill>
                  <a:schemeClr val="tx1"/>
                </a:solidFill>
              </a:rPr>
              <a:t>31-</a:t>
            </a:r>
            <a:r>
              <a:rPr lang="en-US" spc="-10" dirty="0" smtClean="0">
                <a:solidFill>
                  <a:schemeClr val="tx1"/>
                </a:solidFill>
              </a:rPr>
              <a:t>12</a:t>
            </a:r>
            <a:r>
              <a:rPr spc="-10" dirty="0">
                <a:solidFill>
                  <a:schemeClr val="tx1"/>
                </a:solidFill>
              </a:rPr>
              <a:t>-</a:t>
            </a:r>
            <a:r>
              <a:rPr spc="-20" dirty="0">
                <a:solidFill>
                  <a:schemeClr val="tx1"/>
                </a:solidFill>
              </a:rPr>
              <a:t>2025</a:t>
            </a:r>
          </a:p>
        </p:txBody>
      </p:sp>
    </p:spTree>
    <p:extLst>
      <p:ext uri="{BB962C8B-B14F-4D97-AF65-F5344CB8AC3E}">
        <p14:creationId xmlns:p14="http://schemas.microsoft.com/office/powerpoint/2010/main" val="874554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49616" y="9701847"/>
            <a:ext cx="3434079" cy="231474"/>
          </a:xfrm>
          <a:prstGeom prst="rect">
            <a:avLst/>
          </a:prstGeom>
        </p:spPr>
        <p:txBody>
          <a:bodyPr vert="horz" wrap="square" lIns="0" tIns="15875" rIns="0" bIns="0" rtlCol="0">
            <a:spAutoFit/>
          </a:bodyPr>
          <a:lstStyle/>
          <a:p>
            <a:pPr marL="12700">
              <a:lnSpc>
                <a:spcPct val="100000"/>
              </a:lnSpc>
              <a:spcBef>
                <a:spcPts val="125"/>
              </a:spcBef>
            </a:pPr>
            <a:r>
              <a:rPr sz="1400" dirty="0">
                <a:solidFill>
                  <a:schemeClr val="tx1"/>
                </a:solidFill>
                <a:latin typeface="Cambria"/>
                <a:cs typeface="Cambria"/>
              </a:rPr>
              <a:t>Department</a:t>
            </a:r>
            <a:r>
              <a:rPr sz="1400" spc="125" dirty="0">
                <a:solidFill>
                  <a:schemeClr val="tx1"/>
                </a:solidFill>
                <a:latin typeface="Cambria"/>
                <a:cs typeface="Cambria"/>
              </a:rPr>
              <a:t> </a:t>
            </a:r>
            <a:r>
              <a:rPr sz="1400" dirty="0">
                <a:solidFill>
                  <a:schemeClr val="tx1"/>
                </a:solidFill>
                <a:latin typeface="Cambria"/>
                <a:cs typeface="Cambria"/>
              </a:rPr>
              <a:t>of</a:t>
            </a:r>
            <a:r>
              <a:rPr sz="1400" spc="114" dirty="0">
                <a:solidFill>
                  <a:schemeClr val="tx1"/>
                </a:solidFill>
                <a:latin typeface="Cambria"/>
                <a:cs typeface="Cambria"/>
              </a:rPr>
              <a:t> </a:t>
            </a:r>
            <a:r>
              <a:rPr sz="1400" spc="70" dirty="0">
                <a:solidFill>
                  <a:schemeClr val="tx1"/>
                </a:solidFill>
                <a:latin typeface="Cambria"/>
                <a:cs typeface="Cambria"/>
              </a:rPr>
              <a:t>CSE(AI&amp;ML),</a:t>
            </a:r>
            <a:r>
              <a:rPr sz="1400" spc="75" dirty="0">
                <a:solidFill>
                  <a:schemeClr val="tx1"/>
                </a:solidFill>
                <a:latin typeface="Cambria"/>
                <a:cs typeface="Cambria"/>
              </a:rPr>
              <a:t> </a:t>
            </a:r>
            <a:r>
              <a:rPr sz="1400" spc="114" dirty="0">
                <a:solidFill>
                  <a:schemeClr val="tx1"/>
                </a:solidFill>
                <a:latin typeface="Cambria"/>
                <a:cs typeface="Cambria"/>
              </a:rPr>
              <a:t>MCE,</a:t>
            </a:r>
            <a:r>
              <a:rPr sz="1400" spc="165" dirty="0">
                <a:solidFill>
                  <a:schemeClr val="tx1"/>
                </a:solidFill>
                <a:latin typeface="Cambria"/>
                <a:cs typeface="Cambria"/>
              </a:rPr>
              <a:t> </a:t>
            </a:r>
            <a:r>
              <a:rPr sz="1400" spc="-10" dirty="0">
                <a:solidFill>
                  <a:schemeClr val="tx1"/>
                </a:solidFill>
                <a:latin typeface="Cambria"/>
                <a:cs typeface="Cambria"/>
              </a:rPr>
              <a:t>Hassan</a:t>
            </a:r>
            <a:endParaRPr sz="1400">
              <a:solidFill>
                <a:schemeClr val="tx1"/>
              </a:solidFill>
              <a:latin typeface="Cambria"/>
              <a:cs typeface="Cambria"/>
            </a:endParaRPr>
          </a:p>
        </p:txBody>
      </p:sp>
      <p:sp>
        <p:nvSpPr>
          <p:cNvPr id="4" name="AutoShape 5">
            <a:extLst>
              <a:ext uri="{FF2B5EF4-FFF2-40B4-BE49-F238E27FC236}">
                <a16:creationId xmlns:a16="http://schemas.microsoft.com/office/drawing/2014/main" xmlns="" id="{309BA03E-CA11-4CC8-BD51-7B70D917BC53}"/>
              </a:ext>
            </a:extLst>
          </p:cNvPr>
          <p:cNvSpPr/>
          <p:nvPr/>
        </p:nvSpPr>
        <p:spPr>
          <a:xfrm>
            <a:off x="0" y="9419765"/>
            <a:ext cx="18288000" cy="0"/>
          </a:xfrm>
          <a:prstGeom prst="line">
            <a:avLst/>
          </a:prstGeom>
          <a:ln w="9525" cap="flat">
            <a:solidFill>
              <a:srgbClr val="23593E"/>
            </a:solidFill>
            <a:prstDash val="solid"/>
            <a:headEnd type="none" w="sm" len="sm"/>
            <a:tailEnd type="none" w="sm" len="sm"/>
          </a:ln>
        </p:spPr>
      </p:sp>
      <p:sp>
        <p:nvSpPr>
          <p:cNvPr id="5" name="Rectangle 4"/>
          <p:cNvSpPr/>
          <p:nvPr/>
        </p:nvSpPr>
        <p:spPr>
          <a:xfrm>
            <a:off x="3429000" y="722343"/>
            <a:ext cx="12877800" cy="923330"/>
          </a:xfrm>
          <a:prstGeom prst="rect">
            <a:avLst/>
          </a:prstGeom>
        </p:spPr>
        <p:txBody>
          <a:bodyPr wrap="square">
            <a:spAutoFit/>
          </a:bodyPr>
          <a:lstStyle/>
          <a:p>
            <a:r>
              <a:rPr lang="en-IN" sz="5400" dirty="0" smtClean="0">
                <a:solidFill>
                  <a:schemeClr val="accent2">
                    <a:lumMod val="75000"/>
                  </a:schemeClr>
                </a:solidFill>
                <a:latin typeface="Arial Black" pitchFamily="34" charset="0"/>
              </a:rPr>
              <a:t>Implementation &amp; Deployment</a:t>
            </a:r>
            <a:endParaRPr lang="en-IN" sz="5400" dirty="0">
              <a:solidFill>
                <a:schemeClr val="accent2">
                  <a:lumMod val="75000"/>
                </a:schemeClr>
              </a:solidFill>
              <a:latin typeface="Arial Black" pitchFamily="34" charset="0"/>
            </a:endParaRPr>
          </a:p>
        </p:txBody>
      </p:sp>
      <p:sp>
        <p:nvSpPr>
          <p:cNvPr id="10" name="TextBox 9"/>
          <p:cNvSpPr txBox="1"/>
          <p:nvPr/>
        </p:nvSpPr>
        <p:spPr>
          <a:xfrm>
            <a:off x="580841" y="1920242"/>
            <a:ext cx="8029760" cy="8125301"/>
          </a:xfrm>
          <a:prstGeom prst="rect">
            <a:avLst/>
          </a:prstGeom>
          <a:noFill/>
        </p:spPr>
        <p:txBody>
          <a:bodyPr wrap="square" rtlCol="0">
            <a:spAutoFit/>
          </a:bodyPr>
          <a:lstStyle/>
          <a:p>
            <a:pPr marL="514350" indent="-514350">
              <a:lnSpc>
                <a:spcPct val="150000"/>
              </a:lnSpc>
              <a:buFont typeface="+mj-lt"/>
              <a:buAutoNum type="arabicPeriod"/>
            </a:pPr>
            <a:r>
              <a:rPr lang="en-IN" sz="3200" dirty="0" smtClean="0">
                <a:latin typeface="Cambria" pitchFamily="18" charset="0"/>
                <a:ea typeface="Cambria" pitchFamily="18" charset="0"/>
              </a:rPr>
              <a:t>Implemented in Python with modular agent structure</a:t>
            </a:r>
          </a:p>
          <a:p>
            <a:pPr marL="514350" indent="-514350">
              <a:lnSpc>
                <a:spcPct val="150000"/>
              </a:lnSpc>
              <a:buFont typeface="+mj-lt"/>
              <a:buAutoNum type="arabicPeriod"/>
            </a:pPr>
            <a:r>
              <a:rPr lang="en-IN" sz="3200" dirty="0" smtClean="0">
                <a:latin typeface="Cambria" pitchFamily="18" charset="0"/>
                <a:ea typeface="Cambria" pitchFamily="18" charset="0"/>
              </a:rPr>
              <a:t>Agent orchestration handled using </a:t>
            </a:r>
            <a:r>
              <a:rPr lang="en-IN" sz="3200" dirty="0" err="1" smtClean="0">
                <a:latin typeface="Cambria" pitchFamily="18" charset="0"/>
                <a:ea typeface="Cambria" pitchFamily="18" charset="0"/>
              </a:rPr>
              <a:t>LangGraph</a:t>
            </a:r>
            <a:endParaRPr lang="en-IN" sz="3200" dirty="0" smtClean="0">
              <a:latin typeface="Cambria" pitchFamily="18" charset="0"/>
              <a:ea typeface="Cambria" pitchFamily="18" charset="0"/>
            </a:endParaRPr>
          </a:p>
          <a:p>
            <a:pPr marL="514350" indent="-514350">
              <a:lnSpc>
                <a:spcPct val="150000"/>
              </a:lnSpc>
              <a:buFont typeface="+mj-lt"/>
              <a:buAutoNum type="arabicPeriod"/>
            </a:pPr>
            <a:r>
              <a:rPr lang="en-IN" sz="3200" dirty="0" smtClean="0">
                <a:latin typeface="Cambria" pitchFamily="18" charset="0"/>
                <a:ea typeface="Cambria" pitchFamily="18" charset="0"/>
              </a:rPr>
              <a:t>Deployed using Git-based CI on </a:t>
            </a:r>
            <a:r>
              <a:rPr lang="en-IN" sz="3200" dirty="0" err="1" smtClean="0">
                <a:latin typeface="Cambria" pitchFamily="18" charset="0"/>
                <a:ea typeface="Cambria" pitchFamily="18" charset="0"/>
              </a:rPr>
              <a:t>Streamlit</a:t>
            </a:r>
            <a:r>
              <a:rPr lang="en-IN" sz="3200" dirty="0" smtClean="0">
                <a:latin typeface="Cambria" pitchFamily="18" charset="0"/>
                <a:ea typeface="Cambria" pitchFamily="18" charset="0"/>
              </a:rPr>
              <a:t> Cloud</a:t>
            </a:r>
          </a:p>
          <a:p>
            <a:pPr marL="514350" indent="-514350">
              <a:lnSpc>
                <a:spcPct val="150000"/>
              </a:lnSpc>
              <a:buFont typeface="+mj-lt"/>
              <a:buAutoNum type="arabicPeriod"/>
            </a:pPr>
            <a:r>
              <a:rPr lang="en-IN" sz="3200" dirty="0" smtClean="0">
                <a:latin typeface="Cambria" pitchFamily="18" charset="0"/>
                <a:ea typeface="Cambria" pitchFamily="18" charset="0"/>
              </a:rPr>
              <a:t>Environment variables used for secure API management</a:t>
            </a:r>
          </a:p>
          <a:p>
            <a:endParaRPr lang="en-IN" sz="3400" dirty="0" smtClean="0">
              <a:latin typeface="Cambria" pitchFamily="18" charset="0"/>
              <a:ea typeface="Cambria" pitchFamily="18" charset="0"/>
            </a:endParaRPr>
          </a:p>
          <a:p>
            <a:r>
              <a:rPr lang="en-IN" sz="3400" dirty="0" smtClean="0">
                <a:solidFill>
                  <a:schemeClr val="accent2"/>
                </a:solidFill>
                <a:latin typeface="Cambria" pitchFamily="18" charset="0"/>
                <a:ea typeface="Cambria" pitchFamily="18" charset="0"/>
              </a:rPr>
              <a:t>The system provides a live, interactive research interface.</a:t>
            </a:r>
          </a:p>
          <a:p>
            <a:endParaRPr lang="en-IN" dirty="0">
              <a:latin typeface="Cambria" pitchFamily="18" charset="0"/>
              <a:ea typeface="Cambria" pitchFamily="18" charset="0"/>
            </a:endParaRPr>
          </a:p>
          <a:p>
            <a:pPr marL="285750" indent="-285750">
              <a:buFont typeface="Wingdings" pitchFamily="2" charset="2"/>
              <a:buChar char="Ø"/>
            </a:pPr>
            <a:endParaRPr lang="en-IN" dirty="0"/>
          </a:p>
        </p:txBody>
      </p:sp>
      <p:sp>
        <p:nvSpPr>
          <p:cNvPr id="8" name="object 5">
            <a:extLst>
              <a:ext uri="{FF2B5EF4-FFF2-40B4-BE49-F238E27FC236}">
                <a16:creationId xmlns:a16="http://schemas.microsoft.com/office/drawing/2014/main" xmlns="" id="{ED496CE2-A2D8-480C-B33F-1EDD40D73483}"/>
              </a:ext>
            </a:extLst>
          </p:cNvPr>
          <p:cNvSpPr txBox="1">
            <a:spLocks noGrp="1"/>
          </p:cNvSpPr>
          <p:nvPr>
            <p:ph type="sldNum" sz="quarter" idx="7"/>
          </p:nvPr>
        </p:nvSpPr>
        <p:spPr>
          <a:xfrm>
            <a:off x="17173956" y="9723745"/>
            <a:ext cx="215900" cy="189796"/>
          </a:xfrm>
          <a:prstGeom prst="rect">
            <a:avLst/>
          </a:prstGeom>
        </p:spPr>
        <p:txBody>
          <a:bodyPr vert="horz" wrap="square" lIns="0" tIns="5080" rIns="0" bIns="0" rtlCol="0">
            <a:spAutoFit/>
          </a:bodyPr>
          <a:lstStyle/>
          <a:p>
            <a:pPr marL="12700">
              <a:lnSpc>
                <a:spcPct val="100000"/>
              </a:lnSpc>
              <a:spcBef>
                <a:spcPts val="40"/>
              </a:spcBef>
            </a:pPr>
            <a:r>
              <a:rPr spc="-25" dirty="0" smtClean="0">
                <a:solidFill>
                  <a:schemeClr val="tx1"/>
                </a:solidFill>
              </a:rPr>
              <a:t>1</a:t>
            </a:r>
            <a:r>
              <a:rPr lang="en-US" spc="-25" dirty="0">
                <a:solidFill>
                  <a:schemeClr val="tx1"/>
                </a:solidFill>
              </a:rPr>
              <a:t>1</a:t>
            </a:r>
            <a:endParaRPr spc="-25" dirty="0">
              <a:solidFill>
                <a:schemeClr val="tx1"/>
              </a:solidFill>
            </a:endParaRPr>
          </a:p>
        </p:txBody>
      </p:sp>
      <p:sp>
        <p:nvSpPr>
          <p:cNvPr id="11" name="object 5">
            <a:extLst>
              <a:ext uri="{FF2B5EF4-FFF2-40B4-BE49-F238E27FC236}">
                <a16:creationId xmlns:a16="http://schemas.microsoft.com/office/drawing/2014/main" xmlns="" id="{526D8E84-CAFF-4BC2-ADBB-859A6FF228F6}"/>
              </a:ext>
            </a:extLst>
          </p:cNvPr>
          <p:cNvSpPr txBox="1">
            <a:spLocks noGrp="1"/>
          </p:cNvSpPr>
          <p:nvPr>
            <p:ph type="dt" sz="half" idx="6"/>
          </p:nvPr>
        </p:nvSpPr>
        <p:spPr>
          <a:xfrm>
            <a:off x="917575" y="9729254"/>
            <a:ext cx="864235" cy="223138"/>
          </a:xfrm>
          <a:prstGeom prst="rect">
            <a:avLst/>
          </a:prstGeom>
        </p:spPr>
        <p:txBody>
          <a:bodyPr vert="horz" wrap="square" lIns="0" tIns="7620" rIns="0" bIns="0" rtlCol="0">
            <a:spAutoFit/>
          </a:bodyPr>
          <a:lstStyle/>
          <a:p>
            <a:pPr marL="12700">
              <a:lnSpc>
                <a:spcPct val="100000"/>
              </a:lnSpc>
              <a:spcBef>
                <a:spcPts val="60"/>
              </a:spcBef>
            </a:pPr>
            <a:r>
              <a:rPr lang="en-US" spc="-10" dirty="0" smtClean="0">
                <a:solidFill>
                  <a:schemeClr val="tx1"/>
                </a:solidFill>
              </a:rPr>
              <a:t>31</a:t>
            </a:r>
            <a:r>
              <a:rPr spc="-10" dirty="0" smtClean="0">
                <a:solidFill>
                  <a:schemeClr val="tx1"/>
                </a:solidFill>
              </a:rPr>
              <a:t>-</a:t>
            </a:r>
            <a:r>
              <a:rPr lang="en-US" spc="-10" dirty="0">
                <a:solidFill>
                  <a:schemeClr val="tx1"/>
                </a:solidFill>
              </a:rPr>
              <a:t>12</a:t>
            </a:r>
            <a:r>
              <a:rPr spc="-10" dirty="0">
                <a:solidFill>
                  <a:schemeClr val="tx1"/>
                </a:solidFill>
              </a:rPr>
              <a:t>-</a:t>
            </a:r>
            <a:r>
              <a:rPr spc="-20" dirty="0">
                <a:solidFill>
                  <a:schemeClr val="tx1"/>
                </a:solidFill>
              </a:rPr>
              <a:t>2025</a:t>
            </a:r>
          </a:p>
        </p:txBody>
      </p:sp>
      <p:pic>
        <p:nvPicPr>
          <p:cNvPr id="512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925" t="3354" r="1925" b="6422"/>
          <a:stretch/>
        </p:blipFill>
        <p:spPr bwMode="auto">
          <a:xfrm>
            <a:off x="8442959" y="1912622"/>
            <a:ext cx="9448799" cy="693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8915400" y="8892542"/>
            <a:ext cx="7904728" cy="369332"/>
          </a:xfrm>
          <a:prstGeom prst="rect">
            <a:avLst/>
          </a:prstGeom>
        </p:spPr>
        <p:txBody>
          <a:bodyPr wrap="none">
            <a:spAutoFit/>
          </a:bodyPr>
          <a:lstStyle/>
          <a:p>
            <a:r>
              <a:rPr lang="en-IN" dirty="0" smtClean="0"/>
              <a:t>https://agentic-ai-research-assistant-jz7w8eckjmuwejspbdc3jr.streamlit.app/</a:t>
            </a:r>
            <a:endParaRPr lang="en-IN" dirty="0"/>
          </a:p>
        </p:txBody>
      </p:sp>
    </p:spTree>
    <p:extLst>
      <p:ext uri="{BB962C8B-B14F-4D97-AF65-F5344CB8AC3E}">
        <p14:creationId xmlns:p14="http://schemas.microsoft.com/office/powerpoint/2010/main" val="1369903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849616" y="9701847"/>
            <a:ext cx="3434079" cy="231474"/>
          </a:xfrm>
          <a:prstGeom prst="rect">
            <a:avLst/>
          </a:prstGeom>
        </p:spPr>
        <p:txBody>
          <a:bodyPr vert="horz" wrap="square" lIns="0" tIns="15875" rIns="0" bIns="0" rtlCol="0">
            <a:spAutoFit/>
          </a:bodyPr>
          <a:lstStyle/>
          <a:p>
            <a:pPr marL="12700">
              <a:lnSpc>
                <a:spcPct val="100000"/>
              </a:lnSpc>
              <a:spcBef>
                <a:spcPts val="125"/>
              </a:spcBef>
            </a:pPr>
            <a:r>
              <a:rPr sz="1400" dirty="0">
                <a:solidFill>
                  <a:schemeClr val="tx1"/>
                </a:solidFill>
                <a:latin typeface="Cambria"/>
                <a:cs typeface="Cambria"/>
              </a:rPr>
              <a:t>Department</a:t>
            </a:r>
            <a:r>
              <a:rPr sz="1400" spc="125" dirty="0">
                <a:solidFill>
                  <a:schemeClr val="tx1"/>
                </a:solidFill>
                <a:latin typeface="Cambria"/>
                <a:cs typeface="Cambria"/>
              </a:rPr>
              <a:t> </a:t>
            </a:r>
            <a:r>
              <a:rPr sz="1400" dirty="0">
                <a:solidFill>
                  <a:schemeClr val="tx1"/>
                </a:solidFill>
                <a:latin typeface="Cambria"/>
                <a:cs typeface="Cambria"/>
              </a:rPr>
              <a:t>of</a:t>
            </a:r>
            <a:r>
              <a:rPr sz="1400" spc="114" dirty="0">
                <a:solidFill>
                  <a:schemeClr val="tx1"/>
                </a:solidFill>
                <a:latin typeface="Cambria"/>
                <a:cs typeface="Cambria"/>
              </a:rPr>
              <a:t> </a:t>
            </a:r>
            <a:r>
              <a:rPr sz="1400" spc="70" dirty="0">
                <a:solidFill>
                  <a:schemeClr val="tx1"/>
                </a:solidFill>
                <a:latin typeface="Cambria"/>
                <a:cs typeface="Cambria"/>
              </a:rPr>
              <a:t>CSE(AI&amp;ML),</a:t>
            </a:r>
            <a:r>
              <a:rPr sz="1400" spc="75" dirty="0">
                <a:solidFill>
                  <a:schemeClr val="tx1"/>
                </a:solidFill>
                <a:latin typeface="Cambria"/>
                <a:cs typeface="Cambria"/>
              </a:rPr>
              <a:t> </a:t>
            </a:r>
            <a:r>
              <a:rPr sz="1400" spc="114" dirty="0">
                <a:solidFill>
                  <a:schemeClr val="tx1"/>
                </a:solidFill>
                <a:latin typeface="Cambria"/>
                <a:cs typeface="Cambria"/>
              </a:rPr>
              <a:t>MCE,</a:t>
            </a:r>
            <a:r>
              <a:rPr sz="1400" spc="165" dirty="0">
                <a:solidFill>
                  <a:schemeClr val="tx1"/>
                </a:solidFill>
                <a:latin typeface="Cambria"/>
                <a:cs typeface="Cambria"/>
              </a:rPr>
              <a:t> </a:t>
            </a:r>
            <a:r>
              <a:rPr sz="1400" spc="-10" dirty="0">
                <a:solidFill>
                  <a:schemeClr val="tx1"/>
                </a:solidFill>
                <a:latin typeface="Cambria"/>
                <a:cs typeface="Cambria"/>
              </a:rPr>
              <a:t>Hassan</a:t>
            </a:r>
            <a:endParaRPr sz="1400">
              <a:solidFill>
                <a:schemeClr val="tx1"/>
              </a:solidFill>
              <a:latin typeface="Cambria"/>
              <a:cs typeface="Cambria"/>
            </a:endParaRPr>
          </a:p>
        </p:txBody>
      </p:sp>
      <p:sp>
        <p:nvSpPr>
          <p:cNvPr id="4" name="AutoShape 5">
            <a:extLst>
              <a:ext uri="{FF2B5EF4-FFF2-40B4-BE49-F238E27FC236}">
                <a16:creationId xmlns:a16="http://schemas.microsoft.com/office/drawing/2014/main" xmlns="" id="{309BA03E-CA11-4CC8-BD51-7B70D917BC53}"/>
              </a:ext>
            </a:extLst>
          </p:cNvPr>
          <p:cNvSpPr/>
          <p:nvPr/>
        </p:nvSpPr>
        <p:spPr>
          <a:xfrm>
            <a:off x="0" y="9419765"/>
            <a:ext cx="18288000" cy="0"/>
          </a:xfrm>
          <a:prstGeom prst="line">
            <a:avLst/>
          </a:prstGeom>
          <a:ln w="9525" cap="flat">
            <a:solidFill>
              <a:srgbClr val="23593E"/>
            </a:solidFill>
            <a:prstDash val="solid"/>
            <a:headEnd type="none" w="sm" len="sm"/>
            <a:tailEnd type="none" w="sm" len="sm"/>
          </a:ln>
        </p:spPr>
      </p:sp>
      <p:sp>
        <p:nvSpPr>
          <p:cNvPr id="5" name="Rectangle 4"/>
          <p:cNvSpPr/>
          <p:nvPr/>
        </p:nvSpPr>
        <p:spPr>
          <a:xfrm>
            <a:off x="3657600" y="571500"/>
            <a:ext cx="10530214" cy="923330"/>
          </a:xfrm>
          <a:prstGeom prst="rect">
            <a:avLst/>
          </a:prstGeom>
        </p:spPr>
        <p:txBody>
          <a:bodyPr wrap="square">
            <a:spAutoFit/>
          </a:bodyPr>
          <a:lstStyle/>
          <a:p>
            <a:r>
              <a:rPr lang="en-IN" sz="5400" dirty="0" smtClean="0">
                <a:solidFill>
                  <a:schemeClr val="accent2">
                    <a:lumMod val="75000"/>
                  </a:schemeClr>
                </a:solidFill>
                <a:latin typeface="Arial Black" pitchFamily="34" charset="0"/>
              </a:rPr>
              <a:t>Conclusion &amp; Future Scope</a:t>
            </a:r>
            <a:endParaRPr lang="en-IN" sz="5400" dirty="0">
              <a:solidFill>
                <a:schemeClr val="accent2">
                  <a:lumMod val="75000"/>
                </a:schemeClr>
              </a:solidFill>
              <a:latin typeface="Arial Black" pitchFamily="34" charset="0"/>
            </a:endParaRPr>
          </a:p>
        </p:txBody>
      </p:sp>
      <p:sp>
        <p:nvSpPr>
          <p:cNvPr id="10" name="TextBox 9"/>
          <p:cNvSpPr txBox="1"/>
          <p:nvPr/>
        </p:nvSpPr>
        <p:spPr>
          <a:xfrm>
            <a:off x="1295400" y="1866900"/>
            <a:ext cx="15463383" cy="6247864"/>
          </a:xfrm>
          <a:prstGeom prst="rect">
            <a:avLst/>
          </a:prstGeom>
          <a:noFill/>
        </p:spPr>
        <p:txBody>
          <a:bodyPr wrap="square" rtlCol="0">
            <a:spAutoFit/>
          </a:bodyPr>
          <a:lstStyle/>
          <a:p>
            <a:pPr>
              <a:lnSpc>
                <a:spcPct val="150000"/>
              </a:lnSpc>
            </a:pPr>
            <a:r>
              <a:rPr lang="en-US" sz="3600" b="1" dirty="0" smtClean="0">
                <a:solidFill>
                  <a:schemeClr val="accent2"/>
                </a:solidFill>
                <a:latin typeface="Cambria" pitchFamily="18" charset="0"/>
                <a:ea typeface="Cambria" pitchFamily="18" charset="0"/>
              </a:rPr>
              <a:t>Conclusion:</a:t>
            </a:r>
            <a:r>
              <a:rPr lang="en-US" sz="3200" dirty="0" smtClean="0">
                <a:latin typeface="Cambria" pitchFamily="18" charset="0"/>
                <a:ea typeface="Cambria" pitchFamily="18" charset="0"/>
              </a:rPr>
              <a:t/>
            </a:r>
            <a:br>
              <a:rPr lang="en-US" sz="3200" dirty="0" smtClean="0">
                <a:latin typeface="Cambria" pitchFamily="18" charset="0"/>
                <a:ea typeface="Cambria" pitchFamily="18" charset="0"/>
              </a:rPr>
            </a:br>
            <a:r>
              <a:rPr lang="en-US" sz="3200" dirty="0" smtClean="0">
                <a:latin typeface="Cambria" pitchFamily="18" charset="0"/>
                <a:ea typeface="Cambria" pitchFamily="18" charset="0"/>
              </a:rPr>
              <a:t>	 The system enables autonomous, reliable research by combining multi-agent reasoning, verification, and long-term memory.</a:t>
            </a:r>
          </a:p>
          <a:p>
            <a:pPr>
              <a:lnSpc>
                <a:spcPct val="150000"/>
              </a:lnSpc>
            </a:pPr>
            <a:endParaRPr lang="en-US" sz="3200" dirty="0" smtClean="0">
              <a:latin typeface="Cambria" pitchFamily="18" charset="0"/>
              <a:ea typeface="Cambria" pitchFamily="18" charset="0"/>
            </a:endParaRPr>
          </a:p>
          <a:p>
            <a:pPr>
              <a:lnSpc>
                <a:spcPct val="150000"/>
              </a:lnSpc>
            </a:pPr>
            <a:r>
              <a:rPr lang="en-US" sz="3600" b="1" dirty="0" smtClean="0">
                <a:solidFill>
                  <a:schemeClr val="accent2"/>
                </a:solidFill>
                <a:latin typeface="Cambria" pitchFamily="18" charset="0"/>
                <a:ea typeface="Cambria" pitchFamily="18" charset="0"/>
              </a:rPr>
              <a:t>Future Scope:</a:t>
            </a:r>
            <a:r>
              <a:rPr lang="en-US" sz="3200" dirty="0" smtClean="0">
                <a:latin typeface="Cambria" pitchFamily="18" charset="0"/>
                <a:ea typeface="Cambria" pitchFamily="18" charset="0"/>
              </a:rPr>
              <a:t/>
            </a:r>
            <a:br>
              <a:rPr lang="en-US" sz="3200" dirty="0" smtClean="0">
                <a:latin typeface="Cambria" pitchFamily="18" charset="0"/>
                <a:ea typeface="Cambria" pitchFamily="18" charset="0"/>
              </a:rPr>
            </a:br>
            <a:r>
              <a:rPr lang="en-US" sz="3200" dirty="0" smtClean="0">
                <a:latin typeface="Cambria" pitchFamily="18" charset="0"/>
                <a:ea typeface="Cambria" pitchFamily="18" charset="0"/>
              </a:rPr>
              <a:t>	 The system can be extended with domain-specific analysis, iterative verification, and detailed citation-based research reports</a:t>
            </a:r>
          </a:p>
          <a:p>
            <a:endParaRPr lang="en-IN" sz="2600" dirty="0"/>
          </a:p>
          <a:p>
            <a:pPr marL="285750" indent="-285750">
              <a:buFont typeface="Wingdings" pitchFamily="2" charset="2"/>
              <a:buChar char="Ø"/>
            </a:pPr>
            <a:endParaRPr lang="en-IN" sz="2600" dirty="0"/>
          </a:p>
        </p:txBody>
      </p:sp>
      <p:sp>
        <p:nvSpPr>
          <p:cNvPr id="9" name="object 5">
            <a:extLst>
              <a:ext uri="{FF2B5EF4-FFF2-40B4-BE49-F238E27FC236}">
                <a16:creationId xmlns:a16="http://schemas.microsoft.com/office/drawing/2014/main" xmlns="" id="{FC72391A-A784-4916-AC77-8EE8F2B60E94}"/>
              </a:ext>
            </a:extLst>
          </p:cNvPr>
          <p:cNvSpPr txBox="1">
            <a:spLocks noGrp="1"/>
          </p:cNvSpPr>
          <p:nvPr>
            <p:ph type="sldNum" sz="quarter" idx="7"/>
          </p:nvPr>
        </p:nvSpPr>
        <p:spPr>
          <a:xfrm>
            <a:off x="17173956" y="9723745"/>
            <a:ext cx="215900" cy="189796"/>
          </a:xfrm>
          <a:prstGeom prst="rect">
            <a:avLst/>
          </a:prstGeom>
        </p:spPr>
        <p:txBody>
          <a:bodyPr vert="horz" wrap="square" lIns="0" tIns="5080" rIns="0" bIns="0" rtlCol="0">
            <a:spAutoFit/>
          </a:bodyPr>
          <a:lstStyle/>
          <a:p>
            <a:pPr marL="12700">
              <a:lnSpc>
                <a:spcPct val="100000"/>
              </a:lnSpc>
              <a:spcBef>
                <a:spcPts val="40"/>
              </a:spcBef>
            </a:pPr>
            <a:r>
              <a:rPr spc="-25" dirty="0" smtClean="0">
                <a:solidFill>
                  <a:schemeClr val="tx1"/>
                </a:solidFill>
              </a:rPr>
              <a:t>1</a:t>
            </a:r>
            <a:r>
              <a:rPr lang="en-US" spc="-25" dirty="0">
                <a:solidFill>
                  <a:schemeClr val="tx1"/>
                </a:solidFill>
              </a:rPr>
              <a:t>2</a:t>
            </a:r>
            <a:endParaRPr spc="-25" dirty="0">
              <a:solidFill>
                <a:schemeClr val="tx1"/>
              </a:solidFill>
            </a:endParaRPr>
          </a:p>
        </p:txBody>
      </p:sp>
      <p:sp>
        <p:nvSpPr>
          <p:cNvPr id="12" name="object 5">
            <a:extLst>
              <a:ext uri="{FF2B5EF4-FFF2-40B4-BE49-F238E27FC236}">
                <a16:creationId xmlns:a16="http://schemas.microsoft.com/office/drawing/2014/main" xmlns="" id="{92B1FA58-CE67-4DF4-A779-2B8E55A77068}"/>
              </a:ext>
            </a:extLst>
          </p:cNvPr>
          <p:cNvSpPr txBox="1">
            <a:spLocks noGrp="1"/>
          </p:cNvSpPr>
          <p:nvPr>
            <p:ph type="dt" sz="half" idx="6"/>
          </p:nvPr>
        </p:nvSpPr>
        <p:spPr>
          <a:xfrm>
            <a:off x="917575" y="9729254"/>
            <a:ext cx="864235" cy="223138"/>
          </a:xfrm>
          <a:prstGeom prst="rect">
            <a:avLst/>
          </a:prstGeom>
        </p:spPr>
        <p:txBody>
          <a:bodyPr vert="horz" wrap="square" lIns="0" tIns="7620" rIns="0" bIns="0" rtlCol="0">
            <a:spAutoFit/>
          </a:bodyPr>
          <a:lstStyle/>
          <a:p>
            <a:pPr marL="12700">
              <a:lnSpc>
                <a:spcPct val="100000"/>
              </a:lnSpc>
              <a:spcBef>
                <a:spcPts val="60"/>
              </a:spcBef>
            </a:pPr>
            <a:r>
              <a:rPr lang="en-US" spc="-10" dirty="0" smtClean="0">
                <a:solidFill>
                  <a:schemeClr val="tx1"/>
                </a:solidFill>
              </a:rPr>
              <a:t>31</a:t>
            </a:r>
            <a:r>
              <a:rPr spc="-10" dirty="0" smtClean="0">
                <a:solidFill>
                  <a:schemeClr val="tx1"/>
                </a:solidFill>
              </a:rPr>
              <a:t>-</a:t>
            </a:r>
            <a:r>
              <a:rPr lang="en-US" spc="-10" dirty="0">
                <a:solidFill>
                  <a:schemeClr val="tx1"/>
                </a:solidFill>
              </a:rPr>
              <a:t>12</a:t>
            </a:r>
            <a:r>
              <a:rPr spc="-10" dirty="0">
                <a:solidFill>
                  <a:schemeClr val="tx1"/>
                </a:solidFill>
              </a:rPr>
              <a:t>-</a:t>
            </a:r>
            <a:r>
              <a:rPr spc="-20" dirty="0">
                <a:solidFill>
                  <a:schemeClr val="tx1"/>
                </a:solidFill>
              </a:rPr>
              <a:t>2025</a:t>
            </a:r>
          </a:p>
        </p:txBody>
      </p:sp>
    </p:spTree>
    <p:extLst>
      <p:ext uri="{BB962C8B-B14F-4D97-AF65-F5344CB8AC3E}">
        <p14:creationId xmlns:p14="http://schemas.microsoft.com/office/powerpoint/2010/main" val="2119440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14600" y="3238500"/>
            <a:ext cx="13564235" cy="2705228"/>
          </a:xfrm>
          <a:prstGeom prst="rect">
            <a:avLst/>
          </a:prstGeom>
        </p:spPr>
        <p:txBody>
          <a:bodyPr vert="horz" wrap="square" lIns="0" tIns="179705" rIns="0" bIns="0" rtlCol="0">
            <a:spAutoFit/>
          </a:bodyPr>
          <a:lstStyle/>
          <a:p>
            <a:pPr marL="488950" indent="-476250" algn="just">
              <a:lnSpc>
                <a:spcPct val="100000"/>
              </a:lnSpc>
              <a:spcBef>
                <a:spcPts val="1415"/>
              </a:spcBef>
              <a:buFont typeface="Cambria"/>
              <a:buAutoNum type="arabicPlain"/>
              <a:tabLst>
                <a:tab pos="488950" algn="l"/>
              </a:tabLst>
            </a:pPr>
            <a:r>
              <a:rPr lang="en-US" sz="2150" spc="70" dirty="0" err="1" smtClean="0">
                <a:latin typeface="Cambria"/>
                <a:cs typeface="Cambria"/>
              </a:rPr>
              <a:t>Castrillo</a:t>
            </a:r>
            <a:r>
              <a:rPr lang="en-US" sz="2150" spc="70" dirty="0" smtClean="0">
                <a:latin typeface="Cambria"/>
                <a:cs typeface="Cambria"/>
              </a:rPr>
              <a:t>, V. L. Fundamentals of Building Autonomous LLM Agents, </a:t>
            </a:r>
            <a:r>
              <a:rPr lang="en-US" sz="2150" spc="70" dirty="0" err="1" smtClean="0">
                <a:latin typeface="Cambria"/>
                <a:cs typeface="Cambria"/>
              </a:rPr>
              <a:t>arXiv</a:t>
            </a:r>
            <a:r>
              <a:rPr lang="en-US" sz="2150" spc="70" dirty="0" smtClean="0">
                <a:latin typeface="Cambria"/>
                <a:cs typeface="Cambria"/>
              </a:rPr>
              <a:t> Preprint (2025) </a:t>
            </a:r>
            <a:r>
              <a:rPr lang="en-US" sz="2150" spc="70" dirty="0" smtClean="0">
                <a:latin typeface="Cambria"/>
                <a:cs typeface="Cambria"/>
                <a:hlinkClick r:id="rId2"/>
              </a:rPr>
              <a:t>https://doi.org/10.48550/arXiv.2510.09244</a:t>
            </a:r>
            <a:endParaRPr lang="en-US" sz="2150" spc="70" dirty="0" smtClean="0">
              <a:latin typeface="Cambria"/>
              <a:cs typeface="Cambria"/>
            </a:endParaRPr>
          </a:p>
          <a:p>
            <a:pPr marL="488950" indent="-476250" algn="just">
              <a:lnSpc>
                <a:spcPct val="100000"/>
              </a:lnSpc>
              <a:spcBef>
                <a:spcPts val="1415"/>
              </a:spcBef>
              <a:buFont typeface="Cambria"/>
              <a:buAutoNum type="arabicPlain"/>
              <a:tabLst>
                <a:tab pos="488950" algn="l"/>
              </a:tabLst>
            </a:pPr>
            <a:r>
              <a:rPr lang="en-US" sz="2150" spc="70" dirty="0" err="1" smtClean="0">
                <a:latin typeface="Cambria"/>
                <a:cs typeface="Cambria"/>
              </a:rPr>
              <a:t>LangGraph</a:t>
            </a:r>
            <a:r>
              <a:rPr lang="en-US" sz="2150" spc="70" dirty="0" smtClean="0">
                <a:latin typeface="Cambria"/>
                <a:cs typeface="Cambria"/>
              </a:rPr>
              <a:t> Documentationhttps://langchain-ai.github.io/langgraph/arXiv </a:t>
            </a:r>
          </a:p>
          <a:p>
            <a:pPr marL="488950" indent="-476250" algn="just">
              <a:lnSpc>
                <a:spcPct val="100000"/>
              </a:lnSpc>
              <a:spcBef>
                <a:spcPts val="1415"/>
              </a:spcBef>
              <a:buFont typeface="Cambria"/>
              <a:buAutoNum type="arabicPlain"/>
              <a:tabLst>
                <a:tab pos="488950" algn="l"/>
              </a:tabLst>
            </a:pPr>
            <a:r>
              <a:rPr lang="en-US" sz="2150" spc="70" dirty="0" smtClean="0">
                <a:latin typeface="Cambria"/>
                <a:cs typeface="Cambria"/>
              </a:rPr>
              <a:t>API Documentationhttps://arxiv.org/help/api</a:t>
            </a:r>
          </a:p>
          <a:p>
            <a:pPr marL="488950" indent="-476250" algn="just">
              <a:lnSpc>
                <a:spcPct val="100000"/>
              </a:lnSpc>
              <a:spcBef>
                <a:spcPts val="1415"/>
              </a:spcBef>
              <a:buFont typeface="Cambria"/>
              <a:buAutoNum type="arabicPlain"/>
              <a:tabLst>
                <a:tab pos="488950" algn="l"/>
              </a:tabLst>
            </a:pPr>
            <a:r>
              <a:rPr lang="en-IN" sz="2150" spc="105" dirty="0" err="1" smtClean="0">
                <a:latin typeface="Cambria"/>
                <a:cs typeface="Cambria"/>
              </a:rPr>
              <a:t>Touvron</a:t>
            </a:r>
            <a:r>
              <a:rPr lang="en-IN" sz="2150" spc="105" dirty="0" smtClean="0">
                <a:latin typeface="Cambria"/>
                <a:cs typeface="Cambria"/>
              </a:rPr>
              <a:t>, H., Martin, L., Stone, K., et al. (2023).</a:t>
            </a:r>
            <a:r>
              <a:rPr lang="en-IN" sz="2150" spc="105" dirty="0" err="1" smtClean="0">
                <a:latin typeface="Cambria"/>
                <a:cs typeface="Cambria"/>
              </a:rPr>
              <a:t>LLaMA</a:t>
            </a:r>
            <a:r>
              <a:rPr lang="en-IN" sz="2150" spc="105" dirty="0" smtClean="0">
                <a:latin typeface="Cambria"/>
                <a:cs typeface="Cambria"/>
              </a:rPr>
              <a:t>: Open and Efficient Foundation Language Models.  https://doi.org/10.48550/arXiv.2302.13971</a:t>
            </a:r>
          </a:p>
        </p:txBody>
      </p:sp>
      <p:sp>
        <p:nvSpPr>
          <p:cNvPr id="4" name="object 4"/>
          <p:cNvSpPr txBox="1">
            <a:spLocks noGrp="1"/>
          </p:cNvSpPr>
          <p:nvPr>
            <p:ph type="ftr" sz="quarter" idx="5"/>
          </p:nvPr>
        </p:nvSpPr>
        <p:spPr>
          <a:xfrm>
            <a:off x="7849616" y="9709005"/>
            <a:ext cx="3434079" cy="223779"/>
          </a:xfrm>
          <a:prstGeom prst="rect">
            <a:avLst/>
          </a:prstGeom>
        </p:spPr>
        <p:txBody>
          <a:bodyPr vert="horz" wrap="square" lIns="0" tIns="8255" rIns="0" bIns="0" rtlCol="0">
            <a:spAutoFit/>
          </a:bodyPr>
          <a:lstStyle/>
          <a:p>
            <a:pPr marL="12700">
              <a:lnSpc>
                <a:spcPct val="100000"/>
              </a:lnSpc>
              <a:spcBef>
                <a:spcPts val="65"/>
              </a:spcBef>
            </a:pPr>
            <a:r>
              <a:rPr dirty="0">
                <a:solidFill>
                  <a:schemeClr val="tx1"/>
                </a:solidFill>
              </a:rPr>
              <a:t>Department</a:t>
            </a:r>
            <a:r>
              <a:rPr spc="125" dirty="0">
                <a:solidFill>
                  <a:schemeClr val="tx1"/>
                </a:solidFill>
              </a:rPr>
              <a:t> </a:t>
            </a:r>
            <a:r>
              <a:rPr dirty="0">
                <a:solidFill>
                  <a:schemeClr val="tx1"/>
                </a:solidFill>
              </a:rPr>
              <a:t>of</a:t>
            </a:r>
            <a:r>
              <a:rPr spc="114" dirty="0">
                <a:solidFill>
                  <a:schemeClr val="tx1"/>
                </a:solidFill>
              </a:rPr>
              <a:t> </a:t>
            </a:r>
            <a:r>
              <a:rPr spc="70" dirty="0">
                <a:solidFill>
                  <a:schemeClr val="tx1"/>
                </a:solidFill>
              </a:rPr>
              <a:t>CSE(AI&amp;ML),</a:t>
            </a:r>
            <a:r>
              <a:rPr spc="75" dirty="0">
                <a:solidFill>
                  <a:schemeClr val="tx1"/>
                </a:solidFill>
              </a:rPr>
              <a:t> </a:t>
            </a:r>
            <a:r>
              <a:rPr spc="114" dirty="0">
                <a:solidFill>
                  <a:schemeClr val="tx1"/>
                </a:solidFill>
              </a:rPr>
              <a:t>MCE,</a:t>
            </a:r>
            <a:r>
              <a:rPr spc="165" dirty="0">
                <a:solidFill>
                  <a:schemeClr val="tx1"/>
                </a:solidFill>
              </a:rPr>
              <a:t> </a:t>
            </a:r>
            <a:r>
              <a:rPr spc="-10" dirty="0">
                <a:solidFill>
                  <a:schemeClr val="tx1"/>
                </a:solidFill>
              </a:rPr>
              <a:t>Hassan</a:t>
            </a:r>
          </a:p>
        </p:txBody>
      </p:sp>
      <p:sp>
        <p:nvSpPr>
          <p:cNvPr id="6" name="object 6"/>
          <p:cNvSpPr txBox="1">
            <a:spLocks noGrp="1"/>
          </p:cNvSpPr>
          <p:nvPr>
            <p:ph type="sldNum" sz="quarter" idx="7"/>
          </p:nvPr>
        </p:nvSpPr>
        <p:spPr>
          <a:xfrm>
            <a:off x="17173956" y="9723745"/>
            <a:ext cx="215900" cy="374461"/>
          </a:xfrm>
          <a:prstGeom prst="rect">
            <a:avLst/>
          </a:prstGeom>
        </p:spPr>
        <p:txBody>
          <a:bodyPr vert="horz" wrap="square" lIns="0" tIns="5080" rIns="0" bIns="0" rtlCol="0">
            <a:spAutoFit/>
          </a:bodyPr>
          <a:lstStyle/>
          <a:p>
            <a:pPr marL="12700">
              <a:lnSpc>
                <a:spcPct val="100000"/>
              </a:lnSpc>
              <a:spcBef>
                <a:spcPts val="40"/>
              </a:spcBef>
            </a:pPr>
            <a:r>
              <a:rPr lang="en-US" spc="-25" dirty="0" smtClean="0">
                <a:solidFill>
                  <a:schemeClr val="tx1"/>
                </a:solidFill>
              </a:rPr>
              <a:t>13</a:t>
            </a:r>
          </a:p>
          <a:p>
            <a:pPr marL="12700">
              <a:lnSpc>
                <a:spcPct val="100000"/>
              </a:lnSpc>
              <a:spcBef>
                <a:spcPts val="40"/>
              </a:spcBef>
            </a:pPr>
            <a:endParaRPr spc="-25" dirty="0">
              <a:solidFill>
                <a:schemeClr val="tx1"/>
              </a:solidFill>
            </a:endParaRPr>
          </a:p>
        </p:txBody>
      </p:sp>
      <p:sp>
        <p:nvSpPr>
          <p:cNvPr id="3" name="object 3"/>
          <p:cNvSpPr txBox="1">
            <a:spLocks noGrp="1"/>
          </p:cNvSpPr>
          <p:nvPr>
            <p:ph type="title"/>
          </p:nvPr>
        </p:nvSpPr>
        <p:spPr>
          <a:xfrm>
            <a:off x="6774433" y="892556"/>
            <a:ext cx="4748530" cy="941069"/>
          </a:xfrm>
          <a:prstGeom prst="rect">
            <a:avLst/>
          </a:prstGeom>
        </p:spPr>
        <p:txBody>
          <a:bodyPr vert="horz" wrap="square" lIns="0" tIns="13335" rIns="0" bIns="0" rtlCol="0">
            <a:spAutoFit/>
          </a:bodyPr>
          <a:lstStyle/>
          <a:p>
            <a:pPr marL="12700">
              <a:lnSpc>
                <a:spcPct val="100000"/>
              </a:lnSpc>
              <a:spcBef>
                <a:spcPts val="105"/>
              </a:spcBef>
            </a:pPr>
            <a:r>
              <a:rPr sz="6000" spc="-10" dirty="0"/>
              <a:t>References</a:t>
            </a:r>
            <a:endParaRPr sz="6000"/>
          </a:p>
        </p:txBody>
      </p:sp>
      <p:sp>
        <p:nvSpPr>
          <p:cNvPr id="7" name="AutoShape 5">
            <a:extLst>
              <a:ext uri="{FF2B5EF4-FFF2-40B4-BE49-F238E27FC236}">
                <a16:creationId xmlns:a16="http://schemas.microsoft.com/office/drawing/2014/main" xmlns="" id="{14071856-39B2-430C-8E1D-539CC1EB4DAF}"/>
              </a:ext>
            </a:extLst>
          </p:cNvPr>
          <p:cNvSpPr/>
          <p:nvPr/>
        </p:nvSpPr>
        <p:spPr>
          <a:xfrm>
            <a:off x="0" y="9419765"/>
            <a:ext cx="18288000" cy="0"/>
          </a:xfrm>
          <a:prstGeom prst="line">
            <a:avLst/>
          </a:prstGeom>
          <a:ln w="9525" cap="flat">
            <a:solidFill>
              <a:srgbClr val="23593E"/>
            </a:solidFill>
            <a:prstDash val="solid"/>
            <a:headEnd type="none" w="sm" len="sm"/>
            <a:tailEnd type="none" w="sm" len="sm"/>
          </a:ln>
        </p:spPr>
      </p:sp>
      <p:sp>
        <p:nvSpPr>
          <p:cNvPr id="9" name="object 5">
            <a:extLst>
              <a:ext uri="{FF2B5EF4-FFF2-40B4-BE49-F238E27FC236}">
                <a16:creationId xmlns:a16="http://schemas.microsoft.com/office/drawing/2014/main" xmlns="" id="{6F7868C1-9EEB-404F-B67F-7A7655B489EE}"/>
              </a:ext>
            </a:extLst>
          </p:cNvPr>
          <p:cNvSpPr txBox="1">
            <a:spLocks noGrp="1"/>
          </p:cNvSpPr>
          <p:nvPr>
            <p:ph type="dt" sz="half" idx="6"/>
          </p:nvPr>
        </p:nvSpPr>
        <p:spPr>
          <a:xfrm>
            <a:off x="917575" y="9729254"/>
            <a:ext cx="864235" cy="223138"/>
          </a:xfrm>
          <a:prstGeom prst="rect">
            <a:avLst/>
          </a:prstGeom>
        </p:spPr>
        <p:txBody>
          <a:bodyPr vert="horz" wrap="square" lIns="0" tIns="7620" rIns="0" bIns="0" rtlCol="0">
            <a:spAutoFit/>
          </a:bodyPr>
          <a:lstStyle/>
          <a:p>
            <a:pPr marL="12700">
              <a:lnSpc>
                <a:spcPct val="100000"/>
              </a:lnSpc>
              <a:spcBef>
                <a:spcPts val="60"/>
              </a:spcBef>
            </a:pPr>
            <a:r>
              <a:rPr lang="en-US" spc="-10" dirty="0" smtClean="0">
                <a:solidFill>
                  <a:schemeClr val="tx1"/>
                </a:solidFill>
              </a:rPr>
              <a:t>31</a:t>
            </a:r>
            <a:r>
              <a:rPr spc="-10" dirty="0" smtClean="0">
                <a:solidFill>
                  <a:schemeClr val="tx1"/>
                </a:solidFill>
              </a:rPr>
              <a:t>-</a:t>
            </a:r>
            <a:r>
              <a:rPr lang="en-US" spc="-10" dirty="0">
                <a:solidFill>
                  <a:schemeClr val="tx1"/>
                </a:solidFill>
              </a:rPr>
              <a:t>12</a:t>
            </a:r>
            <a:r>
              <a:rPr spc="-10" dirty="0">
                <a:solidFill>
                  <a:schemeClr val="tx1"/>
                </a:solidFill>
              </a:rPr>
              <a:t>-</a:t>
            </a:r>
            <a:r>
              <a:rPr spc="-20" dirty="0">
                <a:solidFill>
                  <a:schemeClr val="tx1"/>
                </a:solidFill>
              </a:rPr>
              <a:t>2025</a:t>
            </a:r>
          </a:p>
        </p:txBody>
      </p:sp>
      <p:graphicFrame>
        <p:nvGraphicFramePr>
          <p:cNvPr id="5" name="Table 4"/>
          <p:cNvGraphicFramePr>
            <a:graphicFrameLocks noGrp="1"/>
          </p:cNvGraphicFramePr>
          <p:nvPr>
            <p:extLst>
              <p:ext uri="{D42A27DB-BD31-4B8C-83A1-F6EECF244321}">
                <p14:modId xmlns:p14="http://schemas.microsoft.com/office/powerpoint/2010/main" val="4036465064"/>
              </p:ext>
            </p:extLst>
          </p:nvPr>
        </p:nvGraphicFramePr>
        <p:xfrm>
          <a:off x="8616950" y="5905500"/>
          <a:ext cx="8462963" cy="2667000"/>
        </p:xfrm>
        <a:graphic>
          <a:graphicData uri="http://schemas.openxmlformats.org/drawingml/2006/table">
            <a:tbl>
              <a:tblPr/>
              <a:tblGrid>
                <a:gridCol w="8462963"/>
              </a:tblGrid>
              <a:tr h="2667000">
                <a:tc>
                  <a:txBody>
                    <a:bodyPr/>
                    <a:lstStyle/>
                    <a:p>
                      <a:pPr fontAlgn="t"/>
                      <a:endParaRPr lang="en-IN" dirty="0">
                        <a:effectLst/>
                      </a:endParaRPr>
                    </a:p>
                  </a:txBody>
                  <a:tcPr marR="49530">
                    <a:lnL>
                      <a:noFill/>
                    </a:lnL>
                    <a:lnR>
                      <a:noFill/>
                    </a:lnR>
                    <a:lnT>
                      <a:noFill/>
                    </a:lnT>
                    <a:lnB>
                      <a:no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2887</TotalTime>
  <Words>671</Words>
  <Application>Microsoft Office PowerPoint</Application>
  <PresentationFormat>Custom</PresentationFormat>
  <Paragraphs>160</Paragraphs>
  <Slides>14</Slides>
  <Notes>3</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AURORA</vt:lpstr>
      <vt:lpstr>Agenda</vt:lpstr>
      <vt:lpstr>Background &amp; Motivation</vt:lpstr>
      <vt:lpstr>Problem Statement</vt:lpstr>
      <vt:lpstr>Objectives</vt:lpstr>
      <vt:lpstr>Core Design of the System </vt:lpstr>
      <vt:lpstr>System Architecture</vt:lpstr>
      <vt:lpstr>Agent Responsibilities</vt:lpstr>
      <vt:lpstr>Agent Responsibilities</vt:lpstr>
      <vt:lpstr>PowerPoint Presentation</vt:lpstr>
      <vt:lpstr>PowerPoint Presentation</vt:lpstr>
      <vt:lpstr>PowerPoint Presentation</vt:lpstr>
      <vt:lpstr>PowerPoint Presentation</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Malnad College of Engineering Department of CSE</dc:title>
  <dc:creator>Samyuktha HS</dc:creator>
  <cp:lastModifiedBy>NITHYASHREE</cp:lastModifiedBy>
  <cp:revision>60</cp:revision>
  <dcterms:created xsi:type="dcterms:W3CDTF">2025-07-06T09:07:45Z</dcterms:created>
  <dcterms:modified xsi:type="dcterms:W3CDTF">2025-12-31T10:49:50Z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2025-07-06T00:00:00Z</vt:filetime>
  </property>
  <property fmtid="{D5CDD505-2E9C-101B-9397-08002B2CF9AE}" pid="3" name="LastSaved">
    <vt:filetime>2025-07-06T00:00:00Z</vt:filetime>
  </property>
</Properties>
</file>